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7" r:id="rId2"/>
    <p:sldId id="258" r:id="rId3"/>
    <p:sldId id="260" r:id="rId4"/>
    <p:sldId id="262" r:id="rId5"/>
    <p:sldId id="263" r:id="rId6"/>
    <p:sldId id="261" r:id="rId7"/>
    <p:sldId id="264" r:id="rId8"/>
    <p:sldId id="259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D5B22-C280-49AA-AC99-24B02A423C0A}" v="4" dt="2022-05-16T13:59:27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坤倫 蔡" userId="b8c73ca30c6f9702" providerId="LiveId" clId="{F4ED5B22-C280-49AA-AC99-24B02A423C0A}"/>
    <pc:docChg chg="custSel modSld modMainMaster">
      <pc:chgData name="坤倫 蔡" userId="b8c73ca30c6f9702" providerId="LiveId" clId="{F4ED5B22-C280-49AA-AC99-24B02A423C0A}" dt="2022-05-16T14:20:19.159" v="3" actId="478"/>
      <pc:docMkLst>
        <pc:docMk/>
      </pc:docMkLst>
      <pc:sldChg chg="delSp modSp mod">
        <pc:chgData name="坤倫 蔡" userId="b8c73ca30c6f9702" providerId="LiveId" clId="{F4ED5B22-C280-49AA-AC99-24B02A423C0A}" dt="2022-05-16T14:20:19.159" v="3" actId="478"/>
        <pc:sldMkLst>
          <pc:docMk/>
          <pc:sldMk cId="1262234323" sldId="257"/>
        </pc:sldMkLst>
        <pc:spChg chg="del mod">
          <ac:chgData name="坤倫 蔡" userId="b8c73ca30c6f9702" providerId="LiveId" clId="{F4ED5B22-C280-49AA-AC99-24B02A423C0A}" dt="2022-05-16T14:20:17.514" v="2" actId="478"/>
          <ac:spMkLst>
            <pc:docMk/>
            <pc:sldMk cId="1262234323" sldId="257"/>
            <ac:spMk id="2" creationId="{780AC8EC-05C5-4C6F-9D95-CAAE2A5392E9}"/>
          </ac:spMkLst>
        </pc:spChg>
        <pc:spChg chg="del mod">
          <ac:chgData name="坤倫 蔡" userId="b8c73ca30c6f9702" providerId="LiveId" clId="{F4ED5B22-C280-49AA-AC99-24B02A423C0A}" dt="2022-05-16T14:20:19.159" v="3" actId="478"/>
          <ac:spMkLst>
            <pc:docMk/>
            <pc:sldMk cId="1262234323" sldId="257"/>
            <ac:spMk id="3" creationId="{C36CE338-1BB5-4A1A-BA58-8DADD5EA9E62}"/>
          </ac:spMkLst>
        </pc:spChg>
      </pc:sldChg>
      <pc:sldChg chg="modSp">
        <pc:chgData name="坤倫 蔡" userId="b8c73ca30c6f9702" providerId="LiveId" clId="{F4ED5B22-C280-49AA-AC99-24B02A423C0A}" dt="2022-05-16T13:59:27.117" v="1"/>
        <pc:sldMkLst>
          <pc:docMk/>
          <pc:sldMk cId="3790371374" sldId="258"/>
        </pc:sldMkLst>
        <pc:spChg chg="mod">
          <ac:chgData name="坤倫 蔡" userId="b8c73ca30c6f9702" providerId="LiveId" clId="{F4ED5B22-C280-49AA-AC99-24B02A423C0A}" dt="2022-05-16T13:59:27.117" v="1"/>
          <ac:spMkLst>
            <pc:docMk/>
            <pc:sldMk cId="3790371374" sldId="258"/>
            <ac:spMk id="2" creationId="{A0B32637-CC6C-4586-9B2C-7925A1DD27D8}"/>
          </ac:spMkLst>
        </pc:spChg>
      </pc:sldChg>
      <pc:sldMasterChg chg="modSp modSldLayout">
        <pc:chgData name="坤倫 蔡" userId="b8c73ca30c6f9702" providerId="LiveId" clId="{F4ED5B22-C280-49AA-AC99-24B02A423C0A}" dt="2022-05-16T13:59:27.117" v="1"/>
        <pc:sldMasterMkLst>
          <pc:docMk/>
          <pc:sldMasterMk cId="149859594" sldId="2147483648"/>
        </pc:sldMasterMkLst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2" creationId="{3EC3762E-B7DD-4390-8ACE-E2514B4E9E45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3" creationId="{90451230-FE94-4C1F-AF48-2AE147F714E7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4" creationId="{3D04953D-4676-481E-94A3-76B87EE9BE49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5" creationId="{37FB4712-A60E-43BD-96F4-AE2112D11F68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6" creationId="{1A3BFAE7-8BB6-47C9-8198-CA148DB89E42}"/>
          </ac:spMkLst>
        </pc:sp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881280802" sldId="2147483649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2" creationId="{AE40CA09-5CFC-4B43-9426-71D032C7B44F}"/>
            </ac:spMkLst>
          </pc:spChg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3" creationId="{02163B6B-BAEC-43C5-97D3-F713AD8DA5D9}"/>
            </ac:spMkLst>
          </pc:spChg>
        </pc:sldLayout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2837395443" sldId="2147483656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2837395443" sldId="2147483656"/>
              <ac:spMk id="9" creationId="{7ACB6EB1-8A48-423E-BD6C-27B1CC35B1BF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81147FA-8D98-4AEF-921E-B54DA00B4D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39A3945-820C-4768-9D89-586507B133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98716-CCB9-4C33-BBB1-4BDB23B72C8C}" type="datetimeFigureOut">
              <a:rPr lang="zh-TW" altLang="en-US" smtClean="0"/>
              <a:t>2025/2/3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CAE714-2CD6-418A-ADAF-0EF26881F5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4C0EA8-8511-403D-9B49-EE7BEEAF8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23640-2296-42E9-8759-BBC7892090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436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0CA09-5CFC-4B43-9426-71D032C7B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163B6B-BAEC-43C5-97D3-F713AD8DA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D81525-44D4-47FE-9A31-937858C9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676-393F-41EA-90CC-2245CD39E234}" type="datetimeFigureOut">
              <a:rPr lang="zh-TW" altLang="en-US" smtClean="0"/>
              <a:t>2025/2/3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6E822-F024-4E62-B37B-B070811C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A3E76D-2674-4BCE-8584-EC892FEF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2808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7ACB6EB1-8A48-423E-BD6C-27B1CC35B1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31900" y="1222375"/>
            <a:ext cx="10250489" cy="52847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37395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46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C3762E-B7DD-4390-8ACE-E2514B4E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451230-FE94-4C1F-AF48-2AE147F71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04953D-4676-481E-94A3-76B87EE9B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7F676-393F-41EA-90CC-2245CD39E234}" type="datetimeFigureOut">
              <a:rPr lang="zh-TW" altLang="en-US" smtClean="0"/>
              <a:t>2025/2/3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FB4712-A60E-43BD-96F4-AE2112D11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3BFAE7-8BB6-47C9-8198-CA148DB89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5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4436734" y="2970446"/>
            <a:ext cx="39714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/>
              <a:t>AD</a:t>
            </a:r>
            <a:r>
              <a:rPr lang="zh-TW" altLang="en-US" sz="4400" b="1" dirty="0"/>
              <a:t>升級與帳號同步移轉</a:t>
            </a:r>
          </a:p>
        </p:txBody>
      </p:sp>
    </p:spTree>
    <p:extLst>
      <p:ext uri="{BB962C8B-B14F-4D97-AF65-F5344CB8AC3E}">
        <p14:creationId xmlns:p14="http://schemas.microsoft.com/office/powerpoint/2010/main" val="126223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永續案帳號</a:t>
            </a:r>
            <a:r>
              <a:rPr lang="zh-TW" altLang="en-US" dirty="0" smtClean="0"/>
              <a:t>同步</a:t>
            </a:r>
            <a:r>
              <a:rPr lang="en-US" altLang="zh-TW" dirty="0"/>
              <a:t>(IDM)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zh-TW" sz="2000" dirty="0"/>
              <a:t>將於</a:t>
            </a:r>
            <a:r>
              <a:rPr lang="zh-TW" altLang="zh-TW" sz="2000" dirty="0" smtClean="0"/>
              <a:t>主中心</a:t>
            </a:r>
            <a:r>
              <a:rPr lang="zh-TW" altLang="zh-TW" sz="2000" dirty="0"/>
              <a:t>及五地區國稅局的內網、中介區及外網區，各建置</a:t>
            </a:r>
            <a:r>
              <a:rPr lang="en-US" altLang="zh-TW" sz="2000" dirty="0"/>
              <a:t>1</a:t>
            </a:r>
            <a:r>
              <a:rPr lang="zh-TW" altLang="zh-TW" sz="2000" dirty="0"/>
              <a:t>台</a:t>
            </a:r>
            <a:r>
              <a:rPr lang="en-US" altLang="zh-TW" sz="2000" dirty="0" smtClean="0"/>
              <a:t>Linux</a:t>
            </a:r>
            <a:r>
              <a:rPr lang="zh-TW" altLang="zh-TW" sz="2000" dirty="0" smtClean="0"/>
              <a:t>伺服器</a:t>
            </a:r>
            <a:r>
              <a:rPr lang="zh-TW" altLang="zh-TW" sz="2000" dirty="0"/>
              <a:t>，使其成為</a:t>
            </a:r>
            <a:r>
              <a:rPr lang="en-US" altLang="zh-TW" sz="2000" dirty="0"/>
              <a:t>IDM</a:t>
            </a:r>
            <a:r>
              <a:rPr lang="zh-TW" altLang="zh-TW" sz="2000" dirty="0"/>
              <a:t>伺服器，共計</a:t>
            </a:r>
            <a:r>
              <a:rPr lang="en-US" altLang="zh-TW" sz="2000" dirty="0"/>
              <a:t>18</a:t>
            </a:r>
            <a:r>
              <a:rPr lang="zh-TW" altLang="zh-TW" sz="2000" dirty="0"/>
              <a:t>台。每台伺服器將使用</a:t>
            </a:r>
            <a:r>
              <a:rPr lang="en-US" altLang="zh-TW" sz="2000" dirty="0" err="1"/>
              <a:t>RedHat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Linux </a:t>
            </a:r>
            <a:r>
              <a:rPr lang="zh-TW" altLang="zh-TW" sz="2000" dirty="0"/>
              <a:t>作為作業系統，並提供帳號同步服務。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1026" name="Picture 2" descr="New_ID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168" y="2800480"/>
            <a:ext cx="8261124" cy="2231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037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IDM</a:t>
            </a:r>
            <a:r>
              <a:rPr lang="zh-TW" altLang="en-US" dirty="0"/>
              <a:t>新舊</a:t>
            </a:r>
            <a:r>
              <a:rPr lang="zh-TW" altLang="en-US" dirty="0" smtClean="0"/>
              <a:t>移轉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zh-TW" sz="2000" dirty="0"/>
              <a:t>將於</a:t>
            </a:r>
            <a:r>
              <a:rPr lang="zh-TW" altLang="zh-TW" sz="2000" dirty="0" smtClean="0"/>
              <a:t>主中心</a:t>
            </a:r>
            <a:r>
              <a:rPr lang="zh-TW" altLang="zh-TW" sz="2000" dirty="0"/>
              <a:t>及五地區國稅局的內網、中介區及外網區，各建置</a:t>
            </a:r>
            <a:r>
              <a:rPr lang="en-US" altLang="zh-TW" sz="2000" dirty="0"/>
              <a:t>1</a:t>
            </a:r>
            <a:r>
              <a:rPr lang="zh-TW" altLang="zh-TW" sz="2000" dirty="0"/>
              <a:t>台</a:t>
            </a:r>
            <a:r>
              <a:rPr lang="en-US" altLang="zh-TW" sz="2000" dirty="0" smtClean="0"/>
              <a:t>Linux</a:t>
            </a:r>
            <a:r>
              <a:rPr lang="zh-TW" altLang="zh-TW" sz="2000" dirty="0" smtClean="0"/>
              <a:t>伺服器</a:t>
            </a:r>
            <a:r>
              <a:rPr lang="zh-TW" altLang="zh-TW" sz="2000" dirty="0"/>
              <a:t>，使其成為</a:t>
            </a:r>
            <a:r>
              <a:rPr lang="en-US" altLang="zh-TW" sz="2000" dirty="0"/>
              <a:t>IDM</a:t>
            </a:r>
            <a:r>
              <a:rPr lang="zh-TW" altLang="zh-TW" sz="2000" dirty="0"/>
              <a:t>伺服器。新</a:t>
            </a:r>
            <a:r>
              <a:rPr lang="en-US" altLang="zh-TW" sz="2000" dirty="0"/>
              <a:t>IDM</a:t>
            </a:r>
            <a:r>
              <a:rPr lang="zh-TW" altLang="zh-TW" sz="2000" dirty="0"/>
              <a:t>部署後不實際異動外網</a:t>
            </a:r>
            <a:r>
              <a:rPr lang="en-US" altLang="zh-TW" sz="2000" dirty="0"/>
              <a:t>Active </a:t>
            </a:r>
            <a:r>
              <a:rPr lang="en-US" altLang="zh-TW" sz="2000" dirty="0" smtClean="0"/>
              <a:t>Directory</a:t>
            </a:r>
            <a:r>
              <a:rPr lang="zh-TW" altLang="zh-TW" sz="2000" dirty="0"/>
              <a:t>，資料仍由舊</a:t>
            </a:r>
            <a:r>
              <a:rPr lang="en-US" altLang="zh-TW" sz="2000" dirty="0"/>
              <a:t>IDM</a:t>
            </a:r>
            <a:r>
              <a:rPr lang="zh-TW" altLang="zh-TW" sz="2000" dirty="0"/>
              <a:t>進行帳號同步，僅確認資料是否有</a:t>
            </a:r>
            <a:r>
              <a:rPr lang="zh-TW" altLang="zh-TW" sz="2000" dirty="0" smtClean="0"/>
              <a:t>正常擷取</a:t>
            </a:r>
            <a:r>
              <a:rPr lang="zh-TW" altLang="zh-TW" sz="2000" dirty="0"/>
              <a:t>與內外網交換，待</a:t>
            </a:r>
            <a:r>
              <a:rPr lang="en-US" altLang="zh-TW" sz="2000" dirty="0"/>
              <a:t>YBD</a:t>
            </a:r>
            <a:r>
              <a:rPr lang="zh-TW" altLang="zh-TW" sz="2000" dirty="0"/>
              <a:t>移轉上線時同步切換至新</a:t>
            </a:r>
            <a:r>
              <a:rPr lang="en-US" altLang="zh-TW" sz="2000" dirty="0"/>
              <a:t>IDM</a:t>
            </a:r>
            <a:r>
              <a:rPr lang="zh-TW" altLang="zh-TW" sz="2000" dirty="0"/>
              <a:t>同時</a:t>
            </a:r>
            <a:r>
              <a:rPr lang="zh-TW" altLang="zh-TW" sz="2000" dirty="0" smtClean="0"/>
              <a:t>啟用</a:t>
            </a:r>
            <a:r>
              <a:rPr lang="en-US" altLang="zh-TW" sz="2000" dirty="0"/>
              <a:t>AD</a:t>
            </a:r>
            <a:r>
              <a:rPr lang="zh-TW" altLang="zh-TW" sz="2000" dirty="0"/>
              <a:t>資料異動功能並下架舊</a:t>
            </a:r>
            <a:r>
              <a:rPr lang="en-US" altLang="zh-TW" sz="2000" dirty="0"/>
              <a:t>IDM</a:t>
            </a:r>
            <a:r>
              <a:rPr lang="zh-TW" altLang="zh-TW" sz="2000" dirty="0"/>
              <a:t>。</a:t>
            </a:r>
            <a:endParaRPr lang="zh-TW" altLang="en-US" sz="2000" dirty="0"/>
          </a:p>
        </p:txBody>
      </p:sp>
      <p:pic>
        <p:nvPicPr>
          <p:cNvPr id="2050" name="Picture 2" descr="ID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041" y="2865408"/>
            <a:ext cx="7689183" cy="302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048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中心與五區協同</a:t>
            </a:r>
            <a:r>
              <a:rPr lang="zh-TW" altLang="en-US" dirty="0" smtClean="0"/>
              <a:t>作業</a:t>
            </a:r>
            <a:r>
              <a:rPr lang="en-US" altLang="zh-TW" dirty="0"/>
              <a:t>-</a:t>
            </a:r>
            <a:r>
              <a:rPr lang="zh-TW" altLang="en-US" dirty="0" smtClean="0"/>
              <a:t>防火牆申請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sz="2000" dirty="0"/>
              <a:t>(1)</a:t>
            </a:r>
            <a:r>
              <a:rPr lang="zh-TW" altLang="en-US" sz="2000" dirty="0"/>
              <a:t>五區第三台</a:t>
            </a:r>
            <a:r>
              <a:rPr lang="en-US" altLang="zh-TW" sz="2000" dirty="0"/>
              <a:t>AD(</a:t>
            </a:r>
            <a:r>
              <a:rPr lang="zh-TW" altLang="en-US" sz="2000" dirty="0"/>
              <a:t>新</a:t>
            </a:r>
            <a:r>
              <a:rPr lang="en-US" altLang="zh-TW" sz="2000" dirty="0"/>
              <a:t>)</a:t>
            </a:r>
            <a:r>
              <a:rPr lang="zh-TW" altLang="en-US" sz="2000" dirty="0" smtClean="0"/>
              <a:t>往</a:t>
            </a:r>
            <a:r>
              <a:rPr lang="zh-TW" altLang="en-US" sz="2000" dirty="0"/>
              <a:t>就地內</a:t>
            </a:r>
            <a:r>
              <a:rPr lang="zh-TW" altLang="en-US" sz="2000" dirty="0" smtClean="0"/>
              <a:t>網舊</a:t>
            </a:r>
            <a:r>
              <a:rPr lang="en-US" altLang="zh-TW" sz="2000" dirty="0"/>
              <a:t>IDM</a:t>
            </a:r>
            <a:r>
              <a:rPr lang="zh-TW" altLang="en-US" sz="2000" dirty="0" smtClean="0"/>
              <a:t>服務</a:t>
            </a:r>
            <a:r>
              <a:rPr lang="en-US" altLang="zh-TW" sz="2000" dirty="0"/>
              <a:t>(</a:t>
            </a:r>
            <a:r>
              <a:rPr lang="zh-TW" altLang="en-US" sz="2000" dirty="0"/>
              <a:t>如橘色</a:t>
            </a:r>
            <a:r>
              <a:rPr lang="en-US" altLang="zh-TW" sz="2000" dirty="0" smtClean="0"/>
              <a:t>)</a:t>
            </a:r>
            <a:endParaRPr lang="zh-TW" altLang="en-US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2000" dirty="0"/>
              <a:t>(2)</a:t>
            </a:r>
            <a:r>
              <a:rPr lang="zh-TW" altLang="en-US" sz="2000" dirty="0"/>
              <a:t>五區</a:t>
            </a:r>
            <a:r>
              <a:rPr lang="en-US" altLang="zh-TW" sz="2000" dirty="0"/>
              <a:t>AD</a:t>
            </a:r>
            <a:r>
              <a:rPr lang="zh-TW" altLang="en-US" sz="2000" dirty="0"/>
              <a:t>與新</a:t>
            </a:r>
            <a:r>
              <a:rPr lang="en-US" altLang="zh-TW" sz="2000" dirty="0"/>
              <a:t>IDM</a:t>
            </a:r>
            <a:r>
              <a:rPr lang="zh-TW" altLang="en-US" sz="2000" dirty="0"/>
              <a:t>服務</a:t>
            </a:r>
            <a:r>
              <a:rPr lang="zh-TW" altLang="en-US" sz="2000" dirty="0" smtClean="0"/>
              <a:t>之間</a:t>
            </a:r>
            <a:r>
              <a:rPr lang="en-US" altLang="zh-TW" sz="2000" dirty="0"/>
              <a:t>(</a:t>
            </a:r>
            <a:r>
              <a:rPr lang="zh-TW" altLang="en-US" sz="2000" dirty="0"/>
              <a:t>如綠色</a:t>
            </a:r>
            <a:r>
              <a:rPr lang="en-US" altLang="zh-TW" sz="2000" dirty="0" smtClean="0"/>
              <a:t>)</a:t>
            </a:r>
            <a:r>
              <a:rPr lang="zh-TW" altLang="en-US" sz="2000" dirty="0"/>
              <a:t> </a:t>
            </a:r>
            <a:r>
              <a:rPr lang="en-US" altLang="zh-TW" sz="2000" dirty="0" smtClean="0"/>
              <a:t>- </a:t>
            </a:r>
            <a:r>
              <a:rPr lang="zh-TW" altLang="en-US" sz="1600" dirty="0" smtClean="0">
                <a:solidFill>
                  <a:srgbClr val="FF0000"/>
                </a:solidFill>
              </a:rPr>
              <a:t>新</a:t>
            </a:r>
            <a:r>
              <a:rPr lang="en-US" altLang="zh-TW" sz="1600" dirty="0">
                <a:solidFill>
                  <a:srgbClr val="FF0000"/>
                </a:solidFill>
              </a:rPr>
              <a:t>IDM</a:t>
            </a:r>
            <a:r>
              <a:rPr lang="zh-TW" altLang="en-US" sz="1600" dirty="0">
                <a:solidFill>
                  <a:srgbClr val="FF0000"/>
                </a:solidFill>
              </a:rPr>
              <a:t>服務</a:t>
            </a:r>
            <a:r>
              <a:rPr lang="en-US" altLang="zh-TW" sz="1600" dirty="0">
                <a:solidFill>
                  <a:srgbClr val="FF0000"/>
                </a:solidFill>
              </a:rPr>
              <a:t>IP</a:t>
            </a:r>
            <a:r>
              <a:rPr lang="zh-TW" altLang="en-US" sz="1600" dirty="0">
                <a:solidFill>
                  <a:srgbClr val="FF0000"/>
                </a:solidFill>
              </a:rPr>
              <a:t>確認後即可申請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238520"/>
              </p:ext>
            </p:extLst>
          </p:nvPr>
        </p:nvGraphicFramePr>
        <p:xfrm>
          <a:off x="778684" y="2562282"/>
          <a:ext cx="10515599" cy="30883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671">
                  <a:extLst>
                    <a:ext uri="{9D8B030D-6E8A-4147-A177-3AD203B41FA5}">
                      <a16:colId xmlns:a16="http://schemas.microsoft.com/office/drawing/2014/main" val="2683744073"/>
                    </a:ext>
                  </a:extLst>
                </a:gridCol>
                <a:gridCol w="379168">
                  <a:extLst>
                    <a:ext uri="{9D8B030D-6E8A-4147-A177-3AD203B41FA5}">
                      <a16:colId xmlns:a16="http://schemas.microsoft.com/office/drawing/2014/main" val="4196927360"/>
                    </a:ext>
                  </a:extLst>
                </a:gridCol>
                <a:gridCol w="379168">
                  <a:extLst>
                    <a:ext uri="{9D8B030D-6E8A-4147-A177-3AD203B41FA5}">
                      <a16:colId xmlns:a16="http://schemas.microsoft.com/office/drawing/2014/main" val="3701035829"/>
                    </a:ext>
                  </a:extLst>
                </a:gridCol>
                <a:gridCol w="379168">
                  <a:extLst>
                    <a:ext uri="{9D8B030D-6E8A-4147-A177-3AD203B41FA5}">
                      <a16:colId xmlns:a16="http://schemas.microsoft.com/office/drawing/2014/main" val="4266691236"/>
                    </a:ext>
                  </a:extLst>
                </a:gridCol>
                <a:gridCol w="1049032">
                  <a:extLst>
                    <a:ext uri="{9D8B030D-6E8A-4147-A177-3AD203B41FA5}">
                      <a16:colId xmlns:a16="http://schemas.microsoft.com/office/drawing/2014/main" val="1318113807"/>
                    </a:ext>
                  </a:extLst>
                </a:gridCol>
                <a:gridCol w="834170">
                  <a:extLst>
                    <a:ext uri="{9D8B030D-6E8A-4147-A177-3AD203B41FA5}">
                      <a16:colId xmlns:a16="http://schemas.microsoft.com/office/drawing/2014/main" val="2690187163"/>
                    </a:ext>
                  </a:extLst>
                </a:gridCol>
                <a:gridCol w="1434520">
                  <a:extLst>
                    <a:ext uri="{9D8B030D-6E8A-4147-A177-3AD203B41FA5}">
                      <a16:colId xmlns:a16="http://schemas.microsoft.com/office/drawing/2014/main" val="4293400414"/>
                    </a:ext>
                  </a:extLst>
                </a:gridCol>
                <a:gridCol w="1434520">
                  <a:extLst>
                    <a:ext uri="{9D8B030D-6E8A-4147-A177-3AD203B41FA5}">
                      <a16:colId xmlns:a16="http://schemas.microsoft.com/office/drawing/2014/main" val="2174195307"/>
                    </a:ext>
                  </a:extLst>
                </a:gridCol>
                <a:gridCol w="1782091">
                  <a:extLst>
                    <a:ext uri="{9D8B030D-6E8A-4147-A177-3AD203B41FA5}">
                      <a16:colId xmlns:a16="http://schemas.microsoft.com/office/drawing/2014/main" val="600223700"/>
                    </a:ext>
                  </a:extLst>
                </a:gridCol>
                <a:gridCol w="1782091">
                  <a:extLst>
                    <a:ext uri="{9D8B030D-6E8A-4147-A177-3AD203B41FA5}">
                      <a16:colId xmlns:a16="http://schemas.microsoft.com/office/drawing/2014/main" val="755171064"/>
                    </a:ext>
                  </a:extLst>
                </a:gridCol>
              </a:tblGrid>
              <a:tr h="223266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開通原因</a:t>
                      </a:r>
                      <a:endParaRPr lang="zh-TW" alt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開通</a:t>
                      </a:r>
                      <a:br>
                        <a:rPr lang="zh-TW" altLang="en-US" sz="700" u="none" strike="noStrike">
                          <a:effectLst/>
                        </a:rPr>
                      </a:br>
                      <a:r>
                        <a:rPr lang="zh-TW" altLang="en-US" sz="700" u="none" strike="noStrike">
                          <a:effectLst/>
                        </a:rPr>
                        <a:t>起始日期</a:t>
                      </a:r>
                      <a:endParaRPr lang="zh-TW" alt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開通</a:t>
                      </a:r>
                      <a:br>
                        <a:rPr lang="zh-TW" altLang="en-US" sz="700" u="none" strike="noStrike">
                          <a:effectLst/>
                        </a:rPr>
                      </a:br>
                      <a:r>
                        <a:rPr lang="zh-TW" altLang="en-US" sz="700" u="none" strike="noStrike">
                          <a:effectLst/>
                        </a:rPr>
                        <a:t>結束日期</a:t>
                      </a:r>
                      <a:endParaRPr lang="zh-TW" alt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區域</a:t>
                      </a:r>
                      <a:endParaRPr lang="zh-TW" alt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來源設備名稱</a:t>
                      </a:r>
                      <a:endParaRPr lang="zh-TW" alt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來源</a:t>
                      </a:r>
                      <a:r>
                        <a:rPr lang="en-US" sz="700" u="none" strike="noStrike">
                          <a:effectLst/>
                        </a:rPr>
                        <a:t>IP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目標設備名稱</a:t>
                      </a:r>
                      <a:endParaRPr lang="zh-TW" alt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目的</a:t>
                      </a:r>
                      <a:r>
                        <a:rPr lang="en-US" sz="700" u="none" strike="noStrike">
                          <a:effectLst/>
                        </a:rPr>
                        <a:t>IP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通訊協定</a:t>
                      </a:r>
                      <a:endParaRPr lang="zh-TW" alt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目的設備通訊埠</a:t>
                      </a:r>
                      <a:endParaRPr lang="zh-TW" altLang="en-US" sz="7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4053685683"/>
                  </a:ext>
                </a:extLst>
              </a:tr>
              <a:tr h="487680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</a:t>
                      </a:r>
                      <a:r>
                        <a:rPr lang="zh-TW" altLang="en-US" sz="700" u="none" strike="noStrike">
                          <a:effectLst/>
                        </a:rPr>
                        <a:t>同步</a:t>
                      </a:r>
                      <a:r>
                        <a:rPr lang="en-US" altLang="zh-TW" sz="700" u="none" strike="noStrike">
                          <a:effectLst/>
                        </a:rPr>
                        <a:t>(</a:t>
                      </a:r>
                      <a:r>
                        <a:rPr lang="zh-TW" altLang="en-US" sz="700" u="none" strike="noStrike">
                          <a:effectLst/>
                        </a:rPr>
                        <a:t>正式</a:t>
                      </a:r>
                      <a:r>
                        <a:rPr lang="en-US" altLang="zh-TW" sz="700" u="none" strike="noStrike">
                          <a:effectLst/>
                        </a:rPr>
                        <a:t>)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114/2/4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 dirty="0">
                          <a:effectLst/>
                        </a:rPr>
                        <a:t>無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 dirty="0">
                          <a:effectLst/>
                        </a:rPr>
                        <a:t>內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IDM_</a:t>
                      </a:r>
                      <a:r>
                        <a:rPr lang="zh-TW" altLang="en-US" sz="700" u="none" strike="noStrike" dirty="0">
                          <a:effectLst/>
                        </a:rPr>
                        <a:t>內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10.191.6.25</a:t>
                      </a:r>
                      <a:br>
                        <a:rPr lang="en-US" altLang="zh-TW" sz="700" u="none" strike="noStrike" dirty="0">
                          <a:effectLst/>
                        </a:rPr>
                      </a:br>
                      <a:r>
                        <a:rPr lang="en-US" altLang="zh-TW" sz="700" u="none" strike="noStrike" dirty="0">
                          <a:effectLst/>
                        </a:rPr>
                        <a:t>10.7.145.114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AD_DNS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10.191.6.10</a:t>
                      </a:r>
                      <a:br>
                        <a:rPr lang="en-US" altLang="zh-TW" sz="700" u="none" strike="noStrike" dirty="0">
                          <a:effectLst/>
                        </a:rPr>
                      </a:br>
                      <a:r>
                        <a:rPr lang="en-US" altLang="zh-TW" sz="700" u="none" strike="noStrike" dirty="0">
                          <a:effectLst/>
                        </a:rPr>
                        <a:t>10.191.6.11</a:t>
                      </a:r>
                      <a:br>
                        <a:rPr lang="en-US" altLang="zh-TW" sz="700" u="none" strike="noStrike" dirty="0">
                          <a:effectLst/>
                        </a:rPr>
                      </a:br>
                      <a:r>
                        <a:rPr lang="en-US" altLang="zh-TW" sz="700" u="none" strike="noStrike" dirty="0">
                          <a:effectLst/>
                        </a:rPr>
                        <a:t>10.191.6.12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TCP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389</a:t>
                      </a:r>
                      <a:br>
                        <a:rPr lang="en-US" altLang="zh-TW" sz="700" u="none" strike="noStrike">
                          <a:effectLst/>
                        </a:rPr>
                      </a:br>
                      <a:r>
                        <a:rPr lang="en-US" altLang="zh-TW" sz="700" u="none" strike="noStrike">
                          <a:effectLst/>
                        </a:rPr>
                        <a:t>636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138565"/>
                  </a:ext>
                </a:extLst>
              </a:tr>
              <a:tr h="42291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114/2/4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無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 dirty="0">
                          <a:effectLst/>
                        </a:rPr>
                        <a:t>內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AD_DNS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10.191.6.10</a:t>
                      </a:r>
                      <a:br>
                        <a:rPr lang="en-US" altLang="zh-TW" sz="700" u="none" strike="noStrike" dirty="0">
                          <a:effectLst/>
                        </a:rPr>
                      </a:br>
                      <a:r>
                        <a:rPr lang="en-US" altLang="zh-TW" sz="700" u="none" strike="noStrike" dirty="0">
                          <a:effectLst/>
                        </a:rPr>
                        <a:t>10.191.6.11</a:t>
                      </a:r>
                      <a:br>
                        <a:rPr lang="en-US" altLang="zh-TW" sz="700" u="none" strike="noStrike" dirty="0">
                          <a:effectLst/>
                        </a:rPr>
                      </a:br>
                      <a:r>
                        <a:rPr lang="en-US" altLang="zh-TW" sz="700" u="none" strike="noStrike" dirty="0">
                          <a:effectLst/>
                        </a:rPr>
                        <a:t>10.191.6.12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IDM_</a:t>
                      </a:r>
                      <a:r>
                        <a:rPr lang="zh-TW" altLang="en-US" sz="700" u="none" strike="noStrike" dirty="0">
                          <a:effectLst/>
                        </a:rPr>
                        <a:t>內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10.191.6.25</a:t>
                      </a:r>
                      <a:br>
                        <a:rPr lang="en-US" altLang="zh-TW" sz="700" u="none" strike="noStrike" dirty="0">
                          <a:effectLst/>
                        </a:rPr>
                      </a:br>
                      <a:r>
                        <a:rPr lang="en-US" altLang="zh-TW" sz="700" u="none" strike="noStrike" dirty="0">
                          <a:effectLst/>
                        </a:rPr>
                        <a:t>10.7.145.114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TCP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5432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357815"/>
                  </a:ext>
                </a:extLst>
              </a:tr>
              <a:tr h="52197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114/2/4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無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外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IDM_</a:t>
                      </a:r>
                      <a:r>
                        <a:rPr lang="zh-TW" altLang="en-US" sz="700" u="none" strike="noStrike">
                          <a:effectLst/>
                        </a:rPr>
                        <a:t>外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10.254.167.25</a:t>
                      </a:r>
                      <a:br>
                        <a:rPr lang="en-US" altLang="zh-TW" sz="700" u="none" strike="noStrike">
                          <a:effectLst/>
                        </a:rPr>
                      </a:br>
                      <a:r>
                        <a:rPr lang="en-US" altLang="zh-TW" sz="700" u="none" strike="noStrike">
                          <a:effectLst/>
                        </a:rPr>
                        <a:t>10.6.248.108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AD_DNS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10.254.205.10</a:t>
                      </a:r>
                      <a:br>
                        <a:rPr lang="en-US" altLang="zh-TW" sz="700" u="none" strike="noStrike" dirty="0">
                          <a:effectLst/>
                        </a:rPr>
                      </a:br>
                      <a:r>
                        <a:rPr lang="en-US" altLang="zh-TW" sz="700" u="none" strike="noStrike" dirty="0">
                          <a:effectLst/>
                        </a:rPr>
                        <a:t>10.254.205.11</a:t>
                      </a:r>
                      <a:br>
                        <a:rPr lang="en-US" altLang="zh-TW" sz="700" u="none" strike="noStrike" dirty="0">
                          <a:effectLst/>
                        </a:rPr>
                      </a:br>
                      <a:r>
                        <a:rPr lang="en-US" altLang="zh-TW" sz="700" u="none" strike="noStrike" dirty="0">
                          <a:effectLst/>
                        </a:rPr>
                        <a:t>10.254.205.12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TCP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389</a:t>
                      </a:r>
                      <a:br>
                        <a:rPr lang="en-US" altLang="zh-TW" sz="700" u="none" strike="noStrike">
                          <a:effectLst/>
                        </a:rPr>
                      </a:br>
                      <a:r>
                        <a:rPr lang="en-US" altLang="zh-TW" sz="700" u="none" strike="noStrike">
                          <a:effectLst/>
                        </a:rPr>
                        <a:t>636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653661"/>
                  </a:ext>
                </a:extLst>
              </a:tr>
              <a:tr h="44958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114/2/4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無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外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AD_DNS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10.254.205.10</a:t>
                      </a:r>
                      <a:br>
                        <a:rPr lang="en-US" altLang="zh-TW" sz="700" u="none" strike="noStrike">
                          <a:effectLst/>
                        </a:rPr>
                      </a:br>
                      <a:r>
                        <a:rPr lang="en-US" altLang="zh-TW" sz="700" u="none" strike="noStrike">
                          <a:effectLst/>
                        </a:rPr>
                        <a:t>10.254.205.11</a:t>
                      </a:r>
                      <a:br>
                        <a:rPr lang="en-US" altLang="zh-TW" sz="700" u="none" strike="noStrike">
                          <a:effectLst/>
                        </a:rPr>
                      </a:br>
                      <a:r>
                        <a:rPr lang="en-US" altLang="zh-TW" sz="700" u="none" strike="noStrike">
                          <a:effectLst/>
                        </a:rPr>
                        <a:t>10.254.205.12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IDM_</a:t>
                      </a:r>
                      <a:r>
                        <a:rPr lang="zh-TW" altLang="en-US" sz="700" u="none" strike="noStrike" dirty="0">
                          <a:effectLst/>
                        </a:rPr>
                        <a:t>外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10.254.167.25</a:t>
                      </a:r>
                      <a:br>
                        <a:rPr lang="en-US" altLang="zh-TW" sz="700" u="none" strike="noStrike">
                          <a:effectLst/>
                        </a:rPr>
                      </a:br>
                      <a:r>
                        <a:rPr lang="en-US" altLang="zh-TW" sz="700" u="none" strike="noStrike">
                          <a:effectLst/>
                        </a:rPr>
                        <a:t>10.6.248.108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TCP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5432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710538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114/2/4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無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中介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IDM_</a:t>
                      </a:r>
                      <a:r>
                        <a:rPr lang="zh-TW" altLang="en-US" sz="700" u="none" strike="noStrike">
                          <a:effectLst/>
                        </a:rPr>
                        <a:t>中介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10.253.191.42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IDM_</a:t>
                      </a:r>
                      <a:r>
                        <a:rPr lang="zh-TW" altLang="en-US" sz="700" u="none" strike="noStrike">
                          <a:effectLst/>
                        </a:rPr>
                        <a:t>內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10.191.6.25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TCP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5432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576981"/>
                  </a:ext>
                </a:extLst>
              </a:tr>
              <a:tr h="16383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114/2/4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無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中介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IDM_</a:t>
                      </a:r>
                      <a:r>
                        <a:rPr lang="zh-TW" altLang="en-US" sz="700" u="none" strike="noStrike">
                          <a:effectLst/>
                        </a:rPr>
                        <a:t>中介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10.254.191.42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IDM_</a:t>
                      </a:r>
                      <a:r>
                        <a:rPr lang="zh-TW" altLang="en-US" sz="700" u="none" strike="noStrike">
                          <a:effectLst/>
                        </a:rPr>
                        <a:t>外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10.254.167.25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TCP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5432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43570"/>
                  </a:ext>
                </a:extLst>
              </a:tr>
              <a:tr h="1295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114/2/4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 dirty="0">
                          <a:effectLst/>
                        </a:rPr>
                        <a:t>無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 dirty="0">
                          <a:effectLst/>
                        </a:rPr>
                        <a:t>內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AD_DNS_</a:t>
                      </a:r>
                      <a:r>
                        <a:rPr lang="zh-TW" altLang="en-US" sz="700" u="none" strike="noStrike" dirty="0">
                          <a:effectLst/>
                        </a:rPr>
                        <a:t>北國第三台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10.191.6.13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IDM_</a:t>
                      </a:r>
                      <a:r>
                        <a:rPr lang="zh-TW" altLang="en-US" sz="700" u="none" strike="noStrike">
                          <a:effectLst/>
                        </a:rPr>
                        <a:t>北國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10.11.88.147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TCP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5432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762495"/>
                  </a:ext>
                </a:extLst>
              </a:tr>
              <a:tr h="1295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114/2/4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無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內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AD_DNS_</a:t>
                      </a:r>
                      <a:r>
                        <a:rPr lang="zh-TW" altLang="en-US" sz="700" u="none" strike="noStrike" dirty="0">
                          <a:effectLst/>
                        </a:rPr>
                        <a:t>北區第三台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10.191.6.14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IDM_</a:t>
                      </a:r>
                      <a:r>
                        <a:rPr lang="zh-TW" altLang="en-US" sz="700" u="none" strike="noStrike" dirty="0">
                          <a:effectLst/>
                        </a:rPr>
                        <a:t>北區</a:t>
                      </a:r>
                      <a:endParaRPr lang="zh-TW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10.19.88.136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TCP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5432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318230"/>
                  </a:ext>
                </a:extLst>
              </a:tr>
              <a:tr h="1295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114/2/4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無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內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AD_DNS_</a:t>
                      </a:r>
                      <a:r>
                        <a:rPr lang="zh-TW" altLang="en-US" sz="700" u="none" strike="noStrike">
                          <a:effectLst/>
                        </a:rPr>
                        <a:t>中區第三台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10.191.6.15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IDM_</a:t>
                      </a:r>
                      <a:r>
                        <a:rPr lang="zh-TW" altLang="en-US" sz="700" u="none" strike="noStrike">
                          <a:effectLst/>
                        </a:rPr>
                        <a:t>中區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10.23.88.97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TCP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5432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12893"/>
                  </a:ext>
                </a:extLst>
              </a:tr>
              <a:tr h="1295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114/2/4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無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內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AD_DNS_</a:t>
                      </a:r>
                      <a:r>
                        <a:rPr lang="zh-TW" altLang="en-US" sz="700" u="none" strike="noStrike">
                          <a:effectLst/>
                        </a:rPr>
                        <a:t>南區第三台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10.191.6.16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IDM_</a:t>
                      </a:r>
                      <a:r>
                        <a:rPr lang="zh-TW" altLang="en-US" sz="700" u="none" strike="noStrike">
                          <a:effectLst/>
                        </a:rPr>
                        <a:t>南區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10.27.88.97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TCP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5432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794409"/>
                  </a:ext>
                </a:extLst>
              </a:tr>
              <a:tr h="1295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114/2/4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無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內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AD_DNS_</a:t>
                      </a:r>
                      <a:r>
                        <a:rPr lang="zh-TW" altLang="en-US" sz="700" u="none" strike="noStrike">
                          <a:effectLst/>
                        </a:rPr>
                        <a:t>高國第三台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10.191.6.17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IDM_</a:t>
                      </a:r>
                      <a:r>
                        <a:rPr lang="zh-TW" altLang="en-US" sz="700" u="none" strike="noStrike">
                          <a:effectLst/>
                        </a:rPr>
                        <a:t>高國</a:t>
                      </a:r>
                      <a:endParaRPr lang="zh-TW" alt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10.15.88.97</a:t>
                      </a:r>
                      <a:endParaRPr lang="en-US" altLang="zh-TW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TCP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5432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3810" marR="3810" marT="381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44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7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中心與五區協同</a:t>
            </a:r>
            <a:r>
              <a:rPr lang="zh-TW" altLang="en-US" dirty="0" smtClean="0"/>
              <a:t>作業</a:t>
            </a:r>
            <a:r>
              <a:rPr lang="en-US" altLang="zh-TW" dirty="0" smtClean="0"/>
              <a:t>-</a:t>
            </a:r>
            <a:r>
              <a:rPr lang="zh-TW" altLang="en-US" dirty="0"/>
              <a:t>新</a:t>
            </a:r>
            <a:r>
              <a:rPr lang="en-US" altLang="zh-TW" dirty="0"/>
              <a:t>IDM</a:t>
            </a:r>
            <a:r>
              <a:rPr lang="zh-TW" altLang="en-US" dirty="0" smtClean="0"/>
              <a:t>安裝</a:t>
            </a:r>
            <a:r>
              <a:rPr lang="en-US" altLang="zh-TW" dirty="0"/>
              <a:t>(</a:t>
            </a:r>
            <a:r>
              <a:rPr lang="en-US" altLang="zh-TW" dirty="0" smtClean="0"/>
              <a:t>3</a:t>
            </a:r>
            <a:r>
              <a:rPr lang="zh-TW" altLang="en-US" dirty="0"/>
              <a:t>月</a:t>
            </a:r>
            <a:r>
              <a:rPr lang="en-US" altLang="zh-TW" dirty="0" smtClean="0"/>
              <a:t>~</a:t>
            </a:r>
            <a:r>
              <a:rPr lang="en-US" altLang="zh-TW" dirty="0"/>
              <a:t>4</a:t>
            </a:r>
            <a:r>
              <a:rPr lang="zh-TW" altLang="en-US" dirty="0"/>
              <a:t>月</a:t>
            </a:r>
            <a:r>
              <a:rPr lang="en-US" altLang="zh-TW" dirty="0"/>
              <a:t>)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sz="2000" dirty="0"/>
              <a:t>(1)</a:t>
            </a:r>
            <a:r>
              <a:rPr lang="zh-TW" altLang="en-US" sz="2000" dirty="0"/>
              <a:t>新</a:t>
            </a:r>
            <a:r>
              <a:rPr lang="en-US" altLang="zh-TW" sz="2000" dirty="0"/>
              <a:t>VM</a:t>
            </a:r>
            <a:r>
              <a:rPr lang="zh-TW" altLang="en-US" sz="2000" dirty="0"/>
              <a:t>機容照舊</a:t>
            </a:r>
            <a:r>
              <a:rPr lang="en-US" altLang="zh-TW" sz="2000" dirty="0"/>
              <a:t>IDM</a:t>
            </a:r>
            <a:r>
              <a:rPr lang="zh-TW" altLang="en-US" sz="2000" dirty="0"/>
              <a:t>配給即可</a:t>
            </a:r>
          </a:p>
          <a:p>
            <a:pPr marL="0" indent="0">
              <a:buNone/>
            </a:pPr>
            <a:r>
              <a:rPr lang="en-US" altLang="zh-TW" sz="2000" dirty="0"/>
              <a:t>(2)</a:t>
            </a:r>
            <a:r>
              <a:rPr lang="zh-TW" altLang="en-US" sz="2000" dirty="0"/>
              <a:t>作業系統</a:t>
            </a:r>
            <a:r>
              <a:rPr lang="en-US" altLang="zh-TW" sz="2000" dirty="0"/>
              <a:t>-</a:t>
            </a:r>
            <a:r>
              <a:rPr lang="en-US" altLang="zh-TW" sz="2000" dirty="0" err="1"/>
              <a:t>Redhat</a:t>
            </a:r>
            <a:r>
              <a:rPr lang="en-US" altLang="zh-TW" sz="2000" dirty="0"/>
              <a:t> enterprise 9.x - </a:t>
            </a:r>
            <a:r>
              <a:rPr lang="zh-TW" altLang="en-US" sz="2000" dirty="0"/>
              <a:t>需</a:t>
            </a:r>
            <a:r>
              <a:rPr lang="en-US" altLang="zh-TW" sz="2000" dirty="0"/>
              <a:t>GUI</a:t>
            </a:r>
            <a:r>
              <a:rPr lang="zh-TW" altLang="en-US" sz="2000" dirty="0"/>
              <a:t>介面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41" y="2725108"/>
            <a:ext cx="3457575" cy="2457450"/>
          </a:xfrm>
          <a:prstGeom prst="rect">
            <a:avLst/>
          </a:prstGeom>
        </p:spPr>
      </p:pic>
      <p:sp>
        <p:nvSpPr>
          <p:cNvPr id="4" name="圓角矩形 3"/>
          <p:cNvSpPr/>
          <p:nvPr/>
        </p:nvSpPr>
        <p:spPr>
          <a:xfrm>
            <a:off x="1964066" y="3953833"/>
            <a:ext cx="2791896" cy="47207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209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中心與五區協同</a:t>
            </a:r>
            <a:r>
              <a:rPr lang="zh-TW" altLang="en-US" dirty="0" smtClean="0"/>
              <a:t>作業</a:t>
            </a:r>
            <a:r>
              <a:rPr lang="en-US" altLang="zh-TW" dirty="0"/>
              <a:t>-</a:t>
            </a:r>
            <a:r>
              <a:rPr lang="zh-TW" altLang="en-US" dirty="0"/>
              <a:t>密碼攔截元件</a:t>
            </a:r>
            <a:r>
              <a:rPr lang="zh-TW" altLang="en-US" dirty="0" smtClean="0"/>
              <a:t>安裝</a:t>
            </a:r>
            <a:r>
              <a:rPr lang="en-US" altLang="zh-TW" dirty="0"/>
              <a:t>(6</a:t>
            </a:r>
            <a:r>
              <a:rPr lang="zh-TW" altLang="en-US" dirty="0"/>
              <a:t>月後依</a:t>
            </a:r>
            <a:r>
              <a:rPr lang="en-US" altLang="zh-TW" dirty="0"/>
              <a:t>AD</a:t>
            </a:r>
            <a:r>
              <a:rPr lang="zh-TW" altLang="en-US" dirty="0"/>
              <a:t>升級時程</a:t>
            </a:r>
            <a:r>
              <a:rPr lang="en-US" altLang="zh-TW" dirty="0"/>
              <a:t>)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sz="2000" dirty="0"/>
              <a:t>(1)</a:t>
            </a:r>
            <a:r>
              <a:rPr lang="zh-TW" altLang="en-US" sz="2000" dirty="0" smtClean="0"/>
              <a:t>於</a:t>
            </a:r>
            <a:r>
              <a:rPr lang="zh-TW" altLang="en-US" sz="2000" dirty="0"/>
              <a:t>新安裝的</a:t>
            </a:r>
            <a:r>
              <a:rPr lang="en-US" altLang="zh-TW" sz="2000" dirty="0"/>
              <a:t>AD</a:t>
            </a:r>
            <a:r>
              <a:rPr lang="zh-TW" altLang="en-US" sz="2000" dirty="0"/>
              <a:t>上需安裝密碼攔截服務</a:t>
            </a:r>
            <a:r>
              <a:rPr lang="en-US" altLang="zh-TW" sz="2000" dirty="0"/>
              <a:t>(</a:t>
            </a:r>
            <a:r>
              <a:rPr lang="zh-TW" altLang="en-US" sz="2000" dirty="0"/>
              <a:t>參考原安裝手冊</a:t>
            </a:r>
            <a:r>
              <a:rPr lang="en-US" altLang="zh-TW" sz="2000" dirty="0" smtClean="0"/>
              <a:t>)</a:t>
            </a:r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 smtClean="0"/>
          </a:p>
          <a:p>
            <a:pPr marL="0" indent="0">
              <a:buNone/>
            </a:pPr>
            <a:r>
              <a:rPr lang="en-US" altLang="zh-TW" sz="2000" dirty="0"/>
              <a:t>(2)</a:t>
            </a:r>
            <a:r>
              <a:rPr lang="zh-TW" altLang="en-US" sz="2000" dirty="0"/>
              <a:t>在</a:t>
            </a:r>
            <a:r>
              <a:rPr lang="en-US" altLang="zh-TW" sz="2000" dirty="0"/>
              <a:t>AD</a:t>
            </a:r>
            <a:r>
              <a:rPr lang="zh-TW" altLang="en-US" sz="2000" dirty="0"/>
              <a:t>升級過程中內網</a:t>
            </a:r>
            <a:r>
              <a:rPr lang="en-US" altLang="zh-TW" sz="2000" dirty="0"/>
              <a:t>IDM</a:t>
            </a:r>
            <a:r>
              <a:rPr lang="zh-TW" altLang="en-US" sz="2000" dirty="0"/>
              <a:t>服務指向</a:t>
            </a:r>
            <a:r>
              <a:rPr lang="en-US" altLang="zh-TW" sz="2000" dirty="0"/>
              <a:t>AD</a:t>
            </a:r>
            <a:r>
              <a:rPr lang="zh-TW" altLang="en-US" sz="2000" dirty="0"/>
              <a:t>需跟著五大角色異動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62" y="2159609"/>
            <a:ext cx="3031684" cy="2325272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4943953"/>
            <a:ext cx="64770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80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中心與五區協同</a:t>
            </a:r>
            <a:r>
              <a:rPr lang="zh-TW" altLang="en-US" dirty="0" smtClean="0"/>
              <a:t>作業</a:t>
            </a:r>
            <a:r>
              <a:rPr lang="en-US" altLang="zh-TW" dirty="0" smtClean="0"/>
              <a:t>-</a:t>
            </a:r>
            <a:r>
              <a:rPr lang="zh-TW" altLang="en-US" dirty="0"/>
              <a:t>永續案</a:t>
            </a:r>
            <a:r>
              <a:rPr lang="en-US" altLang="zh-TW" dirty="0"/>
              <a:t>YBD</a:t>
            </a:r>
            <a:r>
              <a:rPr lang="zh-TW" altLang="en-US" dirty="0"/>
              <a:t>上線時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sz="2000" dirty="0"/>
              <a:t>(1)</a:t>
            </a:r>
            <a:r>
              <a:rPr lang="zh-TW" altLang="en-US" sz="2000" dirty="0"/>
              <a:t>關機內中外舊</a:t>
            </a:r>
            <a:r>
              <a:rPr lang="en-US" altLang="zh-TW" sz="2000" dirty="0"/>
              <a:t>IDM</a:t>
            </a:r>
            <a:r>
              <a:rPr lang="zh-TW" altLang="en-US" sz="2000" dirty="0"/>
              <a:t>主機</a:t>
            </a:r>
          </a:p>
          <a:p>
            <a:pPr marL="0" indent="0">
              <a:buNone/>
            </a:pPr>
            <a:r>
              <a:rPr lang="en-US" altLang="zh-TW" sz="2000" dirty="0"/>
              <a:t>(2)</a:t>
            </a:r>
            <a:r>
              <a:rPr lang="zh-TW" altLang="en-US" sz="2000" dirty="0"/>
              <a:t>關閉內中外新</a:t>
            </a:r>
            <a:r>
              <a:rPr lang="en-US" altLang="zh-TW" sz="2000" dirty="0"/>
              <a:t>IDM</a:t>
            </a:r>
            <a:r>
              <a:rPr lang="zh-TW" altLang="en-US" sz="2000" dirty="0">
                <a:solidFill>
                  <a:srgbClr val="FF0000"/>
                </a:solidFill>
              </a:rPr>
              <a:t>服務</a:t>
            </a:r>
          </a:p>
          <a:p>
            <a:pPr marL="0" indent="0">
              <a:buNone/>
            </a:pPr>
            <a:r>
              <a:rPr lang="en-US" altLang="zh-TW" sz="2000" dirty="0"/>
              <a:t>(3)</a:t>
            </a:r>
            <a:r>
              <a:rPr lang="zh-TW" altLang="en-US" sz="2000" dirty="0"/>
              <a:t>更改內中外新</a:t>
            </a:r>
            <a:r>
              <a:rPr lang="en-US" altLang="zh-TW" sz="2000" dirty="0"/>
              <a:t>IDM</a:t>
            </a:r>
            <a:r>
              <a:rPr lang="zh-TW" altLang="en-US" sz="2000" dirty="0"/>
              <a:t>主機</a:t>
            </a:r>
            <a:r>
              <a:rPr lang="en-US" altLang="zh-TW" sz="2000" dirty="0"/>
              <a:t>IP</a:t>
            </a:r>
            <a:r>
              <a:rPr lang="zh-TW" altLang="en-US" sz="2000" dirty="0"/>
              <a:t>為舊</a:t>
            </a:r>
            <a:r>
              <a:rPr lang="en-US" altLang="zh-TW" sz="2000" dirty="0"/>
              <a:t>IP</a:t>
            </a:r>
            <a:r>
              <a:rPr lang="zh-TW" altLang="en-US" sz="2000" dirty="0"/>
              <a:t>並啟動</a:t>
            </a:r>
            <a:r>
              <a:rPr lang="en-US" altLang="zh-TW" sz="2000" dirty="0"/>
              <a:t>IDM</a:t>
            </a:r>
            <a:r>
              <a:rPr lang="zh-TW" altLang="en-US" sz="2000" dirty="0"/>
              <a:t>服務</a:t>
            </a:r>
          </a:p>
          <a:p>
            <a:pPr marL="0" indent="0">
              <a:buNone/>
            </a:pPr>
            <a:r>
              <a:rPr lang="en-US" altLang="zh-TW" sz="2000" dirty="0"/>
              <a:t>(4)</a:t>
            </a:r>
            <a:r>
              <a:rPr lang="zh-TW" altLang="en-US" sz="2000" dirty="0"/>
              <a:t>觀察</a:t>
            </a:r>
            <a:r>
              <a:rPr lang="en-US" altLang="zh-TW" sz="2000" dirty="0"/>
              <a:t>log</a:t>
            </a:r>
            <a:r>
              <a:rPr lang="zh-TW" altLang="en-US" sz="2000" dirty="0"/>
              <a:t>確認服務是否正常</a:t>
            </a:r>
          </a:p>
        </p:txBody>
      </p:sp>
    </p:spTree>
    <p:extLst>
      <p:ext uri="{BB962C8B-B14F-4D97-AF65-F5344CB8AC3E}">
        <p14:creationId xmlns:p14="http://schemas.microsoft.com/office/powerpoint/2010/main" val="111437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6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353</TotalTime>
  <Words>573</Words>
  <Application>Microsoft Office PowerPoint</Application>
  <PresentationFormat>寬螢幕</PresentationFormat>
  <Paragraphs>135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Hedy Liang</dc:creator>
  <cp:lastModifiedBy>何宗憲</cp:lastModifiedBy>
  <cp:revision>40</cp:revision>
  <dcterms:created xsi:type="dcterms:W3CDTF">2022-04-22T04:41:57Z</dcterms:created>
  <dcterms:modified xsi:type="dcterms:W3CDTF">2025-02-03T10:24:13Z</dcterms:modified>
</cp:coreProperties>
</file>