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257" r:id="rId2"/>
    <p:sldId id="272" r:id="rId3"/>
    <p:sldId id="266" r:id="rId4"/>
    <p:sldId id="263" r:id="rId5"/>
    <p:sldId id="267" r:id="rId6"/>
    <p:sldId id="270" r:id="rId7"/>
    <p:sldId id="280" r:id="rId8"/>
    <p:sldId id="268" r:id="rId9"/>
    <p:sldId id="269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59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5B22-C280-49AA-AC99-24B02A423C0A}" v="4" dt="2022-05-16T13:59:2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坤倫 蔡" userId="b8c73ca30c6f9702" providerId="LiveId" clId="{F4ED5B22-C280-49AA-AC99-24B02A423C0A}"/>
    <pc:docChg chg="custSel modSld modMainMaster">
      <pc:chgData name="坤倫 蔡" userId="b8c73ca30c6f9702" providerId="LiveId" clId="{F4ED5B22-C280-49AA-AC99-24B02A423C0A}" dt="2022-05-16T14:20:19.159" v="3" actId="478"/>
      <pc:docMkLst>
        <pc:docMk/>
      </pc:docMkLst>
      <pc:sldChg chg="delSp modSp mod">
        <pc:chgData name="坤倫 蔡" userId="b8c73ca30c6f9702" providerId="LiveId" clId="{F4ED5B22-C280-49AA-AC99-24B02A423C0A}" dt="2022-05-16T14:20:19.159" v="3" actId="478"/>
        <pc:sldMkLst>
          <pc:docMk/>
          <pc:sldMk cId="1262234323" sldId="257"/>
        </pc:sldMkLst>
        <pc:spChg chg="del mod">
          <ac:chgData name="坤倫 蔡" userId="b8c73ca30c6f9702" providerId="LiveId" clId="{F4ED5B22-C280-49AA-AC99-24B02A423C0A}" dt="2022-05-16T14:20:17.514" v="2" actId="478"/>
          <ac:spMkLst>
            <pc:docMk/>
            <pc:sldMk cId="1262234323" sldId="257"/>
            <ac:spMk id="2" creationId="{780AC8EC-05C5-4C6F-9D95-CAAE2A5392E9}"/>
          </ac:spMkLst>
        </pc:spChg>
        <pc:spChg chg="del mod">
          <ac:chgData name="坤倫 蔡" userId="b8c73ca30c6f9702" providerId="LiveId" clId="{F4ED5B22-C280-49AA-AC99-24B02A423C0A}" dt="2022-05-16T14:20:19.159" v="3" actId="478"/>
          <ac:spMkLst>
            <pc:docMk/>
            <pc:sldMk cId="1262234323" sldId="257"/>
            <ac:spMk id="3" creationId="{C36CE338-1BB5-4A1A-BA58-8DADD5EA9E62}"/>
          </ac:spMkLst>
        </pc:spChg>
      </pc:sldChg>
      <pc:sldChg chg="modSp">
        <pc:chgData name="坤倫 蔡" userId="b8c73ca30c6f9702" providerId="LiveId" clId="{F4ED5B22-C280-49AA-AC99-24B02A423C0A}" dt="2022-05-16T13:59:27.117" v="1"/>
        <pc:sldMkLst>
          <pc:docMk/>
          <pc:sldMk cId="3790371374" sldId="258"/>
        </pc:sldMkLst>
        <pc:spChg chg="mod">
          <ac:chgData name="坤倫 蔡" userId="b8c73ca30c6f9702" providerId="LiveId" clId="{F4ED5B22-C280-49AA-AC99-24B02A423C0A}" dt="2022-05-16T13:59:27.117" v="1"/>
          <ac:spMkLst>
            <pc:docMk/>
            <pc:sldMk cId="3790371374" sldId="258"/>
            <ac:spMk id="2" creationId="{A0B32637-CC6C-4586-9B2C-7925A1DD27D8}"/>
          </ac:spMkLst>
        </pc:spChg>
      </pc:sldChg>
      <pc:sldMasterChg chg="modSp modSldLayout">
        <pc:chgData name="坤倫 蔡" userId="b8c73ca30c6f9702" providerId="LiveId" clId="{F4ED5B22-C280-49AA-AC99-24B02A423C0A}" dt="2022-05-16T13:59:27.117" v="1"/>
        <pc:sldMasterMkLst>
          <pc:docMk/>
          <pc:sldMasterMk cId="149859594" sldId="2147483648"/>
        </pc:sldMasterMkLst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2" creationId="{3EC3762E-B7DD-4390-8ACE-E2514B4E9E45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3" creationId="{90451230-FE94-4C1F-AF48-2AE147F714E7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4" creationId="{3D04953D-4676-481E-94A3-76B87EE9BE49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5" creationId="{37FB4712-A60E-43BD-96F4-AE2112D11F68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6" creationId="{1A3BFAE7-8BB6-47C9-8198-CA148DB89E42}"/>
          </ac:spMkLst>
        </pc:sp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881280802" sldId="2147483649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2" creationId="{AE40CA09-5CFC-4B43-9426-71D032C7B44F}"/>
            </ac:spMkLst>
          </pc:spChg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3" creationId="{02163B6B-BAEC-43C5-97D3-F713AD8DA5D9}"/>
            </ac:spMkLst>
          </pc:spChg>
        </pc:sldLayout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2837395443" sldId="2147483656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2837395443" sldId="2147483656"/>
              <ac:spMk id="9" creationId="{7ACB6EB1-8A48-423E-BD6C-27B1CC35B1B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1147FA-8D98-4AEF-921E-B54DA00B4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39A3945-820C-4768-9D89-586507B133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98716-CCB9-4C33-BBB1-4BDB23B72C8C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CAE714-2CD6-418A-ADAF-0EF26881F5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4C0EA8-8511-403D-9B49-EE7BEEAF8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23640-2296-42E9-8759-BBC7892090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43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0CA09-5CFC-4B43-9426-71D032C7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163B6B-BAEC-43C5-97D3-F713AD8D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D81525-44D4-47FE-9A31-937858C9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676-393F-41EA-90CC-2245CD39E234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6E822-F024-4E62-B37B-B070811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3E76D-2674-4BCE-8584-EC892FE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8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ACB6EB1-8A48-423E-BD6C-27B1CC35B1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1900" y="1222375"/>
            <a:ext cx="10250489" cy="52847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3739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C3762E-B7DD-4390-8ACE-E2514B4E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451230-FE94-4C1F-AF48-2AE147F7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04953D-4676-481E-94A3-76B87EE9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676-393F-41EA-90CC-2245CD39E234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B4712-A60E-43BD-96F4-AE2112D11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BFAE7-8BB6-47C9-8198-CA148DB89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4436733" y="2970446"/>
            <a:ext cx="34880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IDM</a:t>
            </a:r>
            <a:r>
              <a:rPr lang="zh-TW" altLang="en-US" sz="4400" b="1" dirty="0"/>
              <a:t>帳號同步維運手冊</a:t>
            </a:r>
          </a:p>
        </p:txBody>
      </p:sp>
    </p:spTree>
    <p:extLst>
      <p:ext uri="{BB962C8B-B14F-4D97-AF65-F5344CB8AC3E}">
        <p14:creationId xmlns:p14="http://schemas.microsoft.com/office/powerpoint/2010/main" val="12622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3715-32AA-06B1-E626-CA07D381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5DDFE14-7017-E152-115D-121226FCC32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 IDM</a:t>
            </a:r>
            <a:r>
              <a:rPr lang="zh-TW" altLang="en-US" dirty="0"/>
              <a:t>資料流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二</a:t>
            </a:r>
            <a:r>
              <a:rPr lang="en-US" altLang="zh-TW" dirty="0"/>
              <a:t>) Jenkins jobs</a:t>
            </a:r>
            <a:r>
              <a:rPr lang="zh-TW" altLang="en-US" dirty="0"/>
              <a:t>說明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三</a:t>
            </a:r>
            <a:r>
              <a:rPr lang="en-US" altLang="zh-TW" dirty="0"/>
              <a:t>) </a:t>
            </a:r>
            <a:r>
              <a:rPr lang="zh-TW" altLang="en-US" dirty="0"/>
              <a:t>資料庫說明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四</a:t>
            </a:r>
            <a:r>
              <a:rPr lang="en-US" altLang="zh-TW" dirty="0"/>
              <a:t>) </a:t>
            </a:r>
            <a:r>
              <a:rPr lang="zh-TW" altLang="en-US" dirty="0"/>
              <a:t>異常排除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五</a:t>
            </a:r>
            <a:r>
              <a:rPr lang="en-US" altLang="zh-TW" dirty="0"/>
              <a:t>) </a:t>
            </a:r>
            <a:r>
              <a:rPr lang="zh-TW" altLang="en-US" dirty="0"/>
              <a:t>案例分享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六</a:t>
            </a:r>
            <a:r>
              <a:rPr lang="en-US" altLang="zh-TW" dirty="0"/>
              <a:t>) Report</a:t>
            </a:r>
            <a:r>
              <a:rPr lang="zh-TW" altLang="en-US" dirty="0"/>
              <a:t>設定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七</a:t>
            </a:r>
            <a:r>
              <a:rPr lang="en-US" altLang="zh-TW" dirty="0"/>
              <a:t>) AD</a:t>
            </a:r>
            <a:r>
              <a:rPr lang="zh-TW" altLang="en-US" dirty="0"/>
              <a:t>還原時作業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5734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1FF6-026C-A540-2EA2-F003FD11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95A5EA3-B9A2-3A25-3659-F2E7A1568F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 IDM</a:t>
            </a:r>
            <a:r>
              <a:rPr lang="zh-TW" altLang="en-US" dirty="0"/>
              <a:t>資料流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0E09EC0-5E3C-D362-4506-448EEC6E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09" y="1429429"/>
            <a:ext cx="9052923" cy="43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8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二</a:t>
            </a:r>
            <a:r>
              <a:rPr lang="en-US" altLang="zh-TW" dirty="0"/>
              <a:t>) Jenkins jobs</a:t>
            </a:r>
            <a:r>
              <a:rPr lang="zh-TW" altLang="en-US" dirty="0"/>
              <a:t>說明</a:t>
            </a:r>
            <a:r>
              <a:rPr lang="en-US" altLang="zh-TW" dirty="0"/>
              <a:t>-</a:t>
            </a:r>
            <a:r>
              <a:rPr lang="zh-TW" altLang="en-US" dirty="0"/>
              <a:t>內網</a:t>
            </a:r>
            <a:r>
              <a:rPr lang="en-US" altLang="zh-TW" dirty="0"/>
              <a:t>Jenkins jobs</a:t>
            </a:r>
            <a:r>
              <a:rPr lang="zh-TW" altLang="en-US" dirty="0"/>
              <a:t>說明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 (</a:t>
            </a:r>
            <a:r>
              <a:rPr lang="zh-TW" altLang="en-US" sz="1600" dirty="0"/>
              <a:t>中心麻煩由</a:t>
            </a:r>
            <a:r>
              <a:rPr lang="en-US" altLang="zh-TW" sz="1600" dirty="0"/>
              <a:t>XFS</a:t>
            </a:r>
            <a:r>
              <a:rPr lang="zh-TW" altLang="en-US" sz="1600" dirty="0"/>
              <a:t>的</a:t>
            </a:r>
            <a:r>
              <a:rPr lang="en-US" altLang="zh-TW" sz="1600" dirty="0"/>
              <a:t>IDM</a:t>
            </a:r>
            <a:r>
              <a:rPr lang="zh-TW" altLang="en-US" sz="1600" dirty="0"/>
              <a:t>跳板機開瀏覽器去連</a:t>
            </a:r>
            <a:r>
              <a:rPr lang="en-US" altLang="zh-TW" sz="1600" dirty="0"/>
              <a:t>)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擷取內網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資料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(B01ROOT): </a:t>
            </a:r>
            <a:r>
              <a:rPr lang="zh-TW" altLang="en-US" sz="1600" dirty="0"/>
              <a:t>截取稅務</a:t>
            </a:r>
            <a:r>
              <a:rPr lang="en-US" altLang="zh-TW" sz="1600" dirty="0" err="1"/>
              <a:t>ou</a:t>
            </a:r>
            <a:r>
              <a:rPr lang="en-US" altLang="zh-TW" sz="1600" dirty="0"/>
              <a:t> </a:t>
            </a:r>
            <a:r>
              <a:rPr lang="zh-TW" altLang="en-US" sz="1600" dirty="0"/>
              <a:t>、 </a:t>
            </a:r>
            <a:r>
              <a:rPr lang="en-US" altLang="zh-TW" sz="1600" dirty="0"/>
              <a:t>group </a:t>
            </a:r>
            <a:r>
              <a:rPr lang="zh-TW" altLang="en-US" sz="1600" dirty="0"/>
              <a:t>、</a:t>
            </a:r>
            <a:r>
              <a:rPr lang="en-US" altLang="zh-TW" sz="1600" dirty="0"/>
              <a:t>person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擷取內網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資料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(BELROOT):</a:t>
            </a:r>
            <a:r>
              <a:rPr lang="en-US" altLang="zh-TW" sz="1600" dirty="0"/>
              <a:t> </a:t>
            </a:r>
            <a:r>
              <a:rPr lang="zh-TW" altLang="en-US" sz="1600" dirty="0"/>
              <a:t>截取外機關</a:t>
            </a:r>
            <a:r>
              <a:rPr lang="en-US" altLang="zh-TW" sz="1600" dirty="0" err="1"/>
              <a:t>ou</a:t>
            </a:r>
            <a:r>
              <a:rPr lang="en-US" altLang="zh-TW" sz="1600" dirty="0"/>
              <a:t> </a:t>
            </a:r>
            <a:r>
              <a:rPr lang="zh-TW" altLang="en-US" sz="1600" dirty="0"/>
              <a:t>、 </a:t>
            </a:r>
            <a:r>
              <a:rPr lang="en-US" altLang="zh-TW" sz="1600" dirty="0"/>
              <a:t>group </a:t>
            </a:r>
            <a:r>
              <a:rPr lang="zh-TW" altLang="en-US" sz="1600" dirty="0"/>
              <a:t>、</a:t>
            </a:r>
            <a:r>
              <a:rPr lang="en-US" altLang="zh-TW" sz="1600" dirty="0"/>
              <a:t>person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標記內網資料庫中已不在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中的人員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altLang="zh-TW" sz="1600" dirty="0"/>
              <a:t> </a:t>
            </a:r>
            <a:r>
              <a:rPr lang="zh-TW" altLang="en-US" sz="1600" dirty="0"/>
              <a:t>原本存在</a:t>
            </a:r>
            <a:r>
              <a:rPr lang="en-US" altLang="zh-TW" sz="1600" dirty="0"/>
              <a:t>AD</a:t>
            </a:r>
            <a:r>
              <a:rPr lang="zh-TW" altLang="en-US" sz="1600" dirty="0"/>
              <a:t>後來被刪除的</a:t>
            </a:r>
            <a:r>
              <a:rPr lang="en-US" altLang="zh-TW" sz="1600" dirty="0"/>
              <a:t>group</a:t>
            </a:r>
            <a:r>
              <a:rPr lang="zh-TW" altLang="en-US" sz="1600" dirty="0"/>
              <a:t>、</a:t>
            </a:r>
            <a:r>
              <a:rPr lang="en-US" altLang="zh-TW" sz="1600" dirty="0"/>
              <a:t>person</a:t>
            </a:r>
            <a:r>
              <a:rPr lang="zh-TW" altLang="en-US" sz="1600" dirty="0"/>
              <a:t>，將資料庫</a:t>
            </a:r>
            <a:r>
              <a:rPr lang="en-US" altLang="zh-TW" sz="1600" dirty="0"/>
              <a:t>					                                  </a:t>
            </a:r>
            <a:r>
              <a:rPr lang="zh-TW" altLang="en-US" sz="1600" dirty="0"/>
              <a:t>中其</a:t>
            </a:r>
            <a:r>
              <a:rPr lang="en-US" altLang="zh-TW" sz="1600" dirty="0" err="1"/>
              <a:t>objectguid</a:t>
            </a:r>
            <a:r>
              <a:rPr lang="zh-TW" altLang="en-US" sz="1600" dirty="0"/>
              <a:t>值設為</a:t>
            </a:r>
            <a:r>
              <a:rPr lang="en-US" altLang="zh-TW" sz="1600" dirty="0"/>
              <a:t>-1</a:t>
            </a:r>
            <a:r>
              <a:rPr lang="zh-TW" altLang="en-US" sz="1600" dirty="0"/>
              <a:t>，</a:t>
            </a:r>
            <a:r>
              <a:rPr lang="en-US" altLang="zh-TW" sz="1600" dirty="0"/>
              <a:t>person</a:t>
            </a:r>
            <a:r>
              <a:rPr lang="zh-TW" altLang="en-US" sz="1600" dirty="0"/>
              <a:t>額外變更</a:t>
            </a:r>
            <a:r>
              <a:rPr lang="en-US" altLang="zh-TW" sz="1600" dirty="0" err="1"/>
              <a:t>useraccountcontrol</a:t>
            </a:r>
            <a:r>
              <a:rPr lang="zh-TW" altLang="en-US" sz="1600" dirty="0"/>
              <a:t>為</a:t>
            </a:r>
            <a:r>
              <a:rPr lang="en-US" altLang="zh-TW" sz="1600" dirty="0"/>
              <a:t>514</a:t>
            </a:r>
            <a:r>
              <a:rPr lang="zh-TW" altLang="en-US" sz="1600" dirty="0"/>
              <a:t>，  </a:t>
            </a:r>
            <a:r>
              <a:rPr lang="en-US" altLang="zh-TW" sz="1600" dirty="0"/>
              <a:t>	              	                                                      </a:t>
            </a:r>
            <a:r>
              <a:rPr lang="en-US" altLang="zh-TW" sz="1600" dirty="0" err="1"/>
              <a:t>userparameter</a:t>
            </a:r>
            <a:r>
              <a:rPr lang="zh-TW" altLang="en-US" sz="1600" dirty="0"/>
              <a:t>為</a:t>
            </a:r>
            <a:r>
              <a:rPr lang="en-US" altLang="zh-TW" sz="1600" dirty="0"/>
              <a:t>DELETE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系統檢測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zh-TW" altLang="en-US" sz="1600" dirty="0"/>
              <a:t>發送</a:t>
            </a:r>
            <a:r>
              <a:rPr lang="en-US" altLang="zh-TW" sz="1600" dirty="0"/>
              <a:t>mail report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A49FB3-4C99-D298-1156-944768172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7564"/>
            <a:ext cx="12192000" cy="317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9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62D0-4491-45BF-774B-CEAEE5FD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C9E8D9D-8AE3-3F08-1F44-939F481E46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792481"/>
            <a:ext cx="11103428" cy="5453426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外網</a:t>
            </a:r>
            <a:r>
              <a:rPr lang="en-US" altLang="zh-TW" dirty="0"/>
              <a:t>Jenkins jobs</a:t>
            </a:r>
            <a:r>
              <a:rPr lang="zh-TW" altLang="en-US" dirty="0"/>
              <a:t>說明</a:t>
            </a:r>
            <a:r>
              <a:rPr lang="en-US" altLang="zh-TW" dirty="0"/>
              <a:t>(1)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 (</a:t>
            </a:r>
            <a:r>
              <a:rPr lang="zh-TW" altLang="en-US" sz="1600" dirty="0"/>
              <a:t>中心麻煩由</a:t>
            </a:r>
            <a:r>
              <a:rPr lang="en-US" altLang="zh-TW" sz="1600" dirty="0"/>
              <a:t>XFS</a:t>
            </a:r>
            <a:r>
              <a:rPr lang="zh-TW" altLang="en-US" sz="1600" dirty="0"/>
              <a:t>的</a:t>
            </a:r>
            <a:r>
              <a:rPr lang="en-US" altLang="zh-TW" sz="1600" dirty="0"/>
              <a:t>IDM</a:t>
            </a:r>
            <a:r>
              <a:rPr lang="zh-TW" altLang="en-US" sz="1600" dirty="0"/>
              <a:t>跳板機開瀏覽器去連</a:t>
            </a:r>
            <a:r>
              <a:rPr lang="en-US" altLang="zh-TW" sz="1600" dirty="0"/>
              <a:t>)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擷取外網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資料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(B01ROOT):</a:t>
            </a:r>
            <a:r>
              <a:rPr lang="en-US" altLang="zh-TW" sz="1600" dirty="0"/>
              <a:t> </a:t>
            </a:r>
            <a:r>
              <a:rPr lang="zh-TW" altLang="en-US" sz="1600" dirty="0"/>
              <a:t>截取稅務</a:t>
            </a:r>
            <a:r>
              <a:rPr lang="en-US" altLang="zh-TW" sz="1600" dirty="0" err="1"/>
              <a:t>ou</a:t>
            </a:r>
            <a:r>
              <a:rPr lang="en-US" altLang="zh-TW" sz="1600" dirty="0"/>
              <a:t> </a:t>
            </a:r>
            <a:r>
              <a:rPr lang="zh-TW" altLang="en-US" sz="1600" dirty="0"/>
              <a:t>、 </a:t>
            </a:r>
            <a:r>
              <a:rPr lang="en-US" altLang="zh-TW" sz="1600" dirty="0"/>
              <a:t>group </a:t>
            </a:r>
            <a:r>
              <a:rPr lang="zh-TW" altLang="en-US" sz="1600" dirty="0"/>
              <a:t>、</a:t>
            </a:r>
            <a:r>
              <a:rPr lang="en-US" altLang="zh-TW" sz="1600" dirty="0"/>
              <a:t>person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擷取外網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資料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(BELROOT):</a:t>
            </a:r>
            <a:r>
              <a:rPr lang="en-US" altLang="zh-TW" sz="1600" dirty="0"/>
              <a:t> </a:t>
            </a:r>
            <a:r>
              <a:rPr lang="zh-TW" altLang="en-US" sz="1600" dirty="0"/>
              <a:t>截取外機關</a:t>
            </a:r>
            <a:r>
              <a:rPr lang="en-US" altLang="zh-TW" sz="1600" dirty="0" err="1"/>
              <a:t>ou</a:t>
            </a:r>
            <a:r>
              <a:rPr lang="en-US" altLang="zh-TW" sz="1600" dirty="0"/>
              <a:t> </a:t>
            </a:r>
            <a:r>
              <a:rPr lang="zh-TW" altLang="en-US" sz="1600" dirty="0"/>
              <a:t>、 </a:t>
            </a:r>
            <a:r>
              <a:rPr lang="en-US" altLang="zh-TW" sz="1600" dirty="0"/>
              <a:t>group </a:t>
            </a:r>
            <a:r>
              <a:rPr lang="zh-TW" altLang="en-US" sz="1600" dirty="0"/>
              <a:t>、</a:t>
            </a:r>
            <a:r>
              <a:rPr lang="en-US" altLang="zh-TW" sz="1600" dirty="0"/>
              <a:t>person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10493C-FA08-3568-AA64-42471C3A8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7440"/>
            <a:ext cx="12192000" cy="35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ED0F-8F42-8F64-C4CC-14BD8671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6B8070A-FE91-BD4C-C2B1-17BF652CB4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外網</a:t>
            </a:r>
            <a:r>
              <a:rPr lang="en-US" altLang="zh-TW" dirty="0"/>
              <a:t>Jenkins jobs</a:t>
            </a:r>
            <a:r>
              <a:rPr lang="zh-TW" altLang="en-US" dirty="0"/>
              <a:t>說明</a:t>
            </a:r>
            <a:r>
              <a:rPr lang="en-US" altLang="zh-TW" dirty="0"/>
              <a:t>(2)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chemeClr val="accent2">
                    <a:lumMod val="75000"/>
                  </a:schemeClr>
                </a:solidFill>
              </a:rPr>
              <a:t>比對內外網</a:t>
            </a:r>
            <a:r>
              <a:rPr lang="en-US" altLang="zh-TW" sz="18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800" dirty="0">
                <a:solidFill>
                  <a:schemeClr val="accent2">
                    <a:lumMod val="75000"/>
                  </a:schemeClr>
                </a:solidFill>
              </a:rPr>
              <a:t>資料差異並同步至外網</a:t>
            </a:r>
            <a:r>
              <a:rPr lang="en-US" altLang="zh-TW" sz="1800" dirty="0">
                <a:solidFill>
                  <a:schemeClr val="accent2">
                    <a:lumMod val="75000"/>
                  </a:schemeClr>
                </a:solidFill>
              </a:rPr>
              <a:t>AD:</a:t>
            </a:r>
            <a:r>
              <a:rPr lang="en-US" altLang="zh-TW" sz="1800" dirty="0"/>
              <a:t> 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rgbClr val="FF0000"/>
                </a:solidFill>
              </a:rPr>
              <a:t>物件新增</a:t>
            </a:r>
            <a:r>
              <a:rPr lang="en-US" altLang="zh-TW" sz="1600" dirty="0">
                <a:solidFill>
                  <a:srgbClr val="FF0000"/>
                </a:solidFill>
              </a:rPr>
              <a:t>: 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</a:rPr>
              <a:t>組織</a:t>
            </a: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n-US" altLang="zh-TW" sz="1600" dirty="0"/>
              <a:t> </a:t>
            </a:r>
            <a:r>
              <a:rPr lang="zh-TW" altLang="en-US" sz="1600" dirty="0"/>
              <a:t>找出內網有而外網沒有的</a:t>
            </a:r>
            <a:r>
              <a:rPr lang="en-US" altLang="zh-TW" sz="1600" dirty="0" err="1"/>
              <a:t>ou</a:t>
            </a:r>
            <a:r>
              <a:rPr lang="zh-TW" altLang="en-US" sz="1600" dirty="0"/>
              <a:t>欄位值，並將該物件新增至外網</a:t>
            </a:r>
            <a:r>
              <a:rPr lang="en-US" altLang="zh-TW" sz="1600" dirty="0"/>
              <a:t>AD</a:t>
            </a:r>
          </a:p>
          <a:p>
            <a:pPr marL="0" indent="0">
              <a:buNone/>
            </a:pPr>
            <a:r>
              <a:rPr lang="en-US" altLang="zh-TW" sz="1600" dirty="0"/>
              <a:t>                    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</a:rPr>
              <a:t>群組、人員</a:t>
            </a: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zh-TW" altLang="en-US" sz="1600" dirty="0"/>
              <a:t>找出內網有而外網沒有的</a:t>
            </a:r>
            <a:r>
              <a:rPr lang="en-US" altLang="zh-TW" sz="1600" dirty="0" err="1"/>
              <a:t>cn</a:t>
            </a:r>
            <a:r>
              <a:rPr lang="zh-TW" altLang="en-US" sz="1600" dirty="0"/>
              <a:t>欄位值，並將該物件新增至外網</a:t>
            </a:r>
            <a:r>
              <a:rPr lang="en-US" altLang="zh-TW" sz="1600" dirty="0"/>
              <a:t>AD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rgbClr val="FF0000"/>
                </a:solidFill>
              </a:rPr>
              <a:t>屬性同步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  <a:r>
              <a:rPr lang="en-US" altLang="zh-TW" sz="1600" dirty="0"/>
              <a:t> 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</a:rPr>
              <a:t>組織、群組、人員</a:t>
            </a: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zh-TW" altLang="en-US" sz="1600" dirty="0"/>
              <a:t>比對內外網</a:t>
            </a:r>
            <a:r>
              <a:rPr lang="en-US" altLang="zh-TW" sz="1600" dirty="0"/>
              <a:t>table</a:t>
            </a:r>
            <a:r>
              <a:rPr lang="zh-TW" altLang="en-US" sz="1600" dirty="0"/>
              <a:t>，找出同</a:t>
            </a:r>
            <a:r>
              <a:rPr lang="en-US" altLang="zh-TW" sz="1600" dirty="0" err="1"/>
              <a:t>dn</a:t>
            </a:r>
            <a:r>
              <a:rPr lang="zh-TW" altLang="en-US" sz="1600" dirty="0"/>
              <a:t>，但</a:t>
            </a:r>
            <a:r>
              <a:rPr lang="en-US" altLang="zh-TW" sz="1600" dirty="0" err="1"/>
              <a:t>syncattrs_hash</a:t>
            </a:r>
            <a:r>
              <a:rPr lang="en-US" altLang="zh-TW" sz="1600" dirty="0"/>
              <a:t>(</a:t>
            </a:r>
            <a:r>
              <a:rPr lang="zh-TW" altLang="en-US" sz="1600" dirty="0"/>
              <a:t>屬性字串</a:t>
            </a:r>
            <a:r>
              <a:rPr lang="en-US" altLang="zh-TW" sz="1600" dirty="0"/>
              <a:t>hash</a:t>
            </a:r>
            <a:r>
              <a:rPr lang="zh-TW" altLang="en-US" sz="1600" dirty="0"/>
              <a:t>值</a:t>
            </a:r>
            <a:r>
              <a:rPr lang="en-US" altLang="zh-TW" sz="1600" dirty="0"/>
              <a:t>)</a:t>
            </a:r>
            <a:r>
              <a:rPr lang="zh-TW" altLang="en-US" sz="1600" dirty="0"/>
              <a:t>不同的物件，並將內網屬性覆 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/>
              <a:t>                                                         </a:t>
            </a:r>
            <a:r>
              <a:rPr lang="zh-TW" altLang="en-US" sz="1600" dirty="0"/>
              <a:t>寫到外網</a:t>
            </a:r>
            <a:r>
              <a:rPr lang="en-US" altLang="zh-TW" sz="1600" dirty="0"/>
              <a:t>AD (</a:t>
            </a:r>
            <a:r>
              <a:rPr lang="zh-TW" altLang="en-US" sz="1600" dirty="0">
                <a:solidFill>
                  <a:srgbClr val="FF0000"/>
                </a:solidFill>
              </a:rPr>
              <a:t>群組只會同步</a:t>
            </a:r>
            <a:r>
              <a:rPr lang="en-US" altLang="zh-TW" sz="1600" dirty="0" err="1">
                <a:solidFill>
                  <a:srgbClr val="FF0000"/>
                </a:solidFill>
              </a:rPr>
              <a:t>displayname</a:t>
            </a:r>
            <a:r>
              <a:rPr lang="zh-TW" altLang="en-US" sz="1600" dirty="0">
                <a:solidFill>
                  <a:srgbClr val="FF0000"/>
                </a:solidFill>
              </a:rPr>
              <a:t>、</a:t>
            </a:r>
            <a:r>
              <a:rPr lang="en-US" altLang="zh-TW" sz="1600" dirty="0">
                <a:solidFill>
                  <a:srgbClr val="FF0000"/>
                </a:solidFill>
              </a:rPr>
              <a:t>name</a:t>
            </a:r>
            <a:r>
              <a:rPr lang="zh-TW" altLang="en-US" sz="1600" dirty="0">
                <a:solidFill>
                  <a:srgbClr val="FF0000"/>
                </a:solidFill>
              </a:rPr>
              <a:t>、</a:t>
            </a:r>
            <a:r>
              <a:rPr lang="en-US" altLang="zh-TW" sz="1600" dirty="0">
                <a:solidFill>
                  <a:srgbClr val="FF0000"/>
                </a:solidFill>
              </a:rPr>
              <a:t>extensionattribute10~15</a:t>
            </a:r>
            <a:r>
              <a:rPr lang="en-US" altLang="zh-TW" sz="1600" dirty="0"/>
              <a:t>)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rgbClr val="FF0000"/>
                </a:solidFill>
              </a:rPr>
              <a:t>物件搬移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  <a:r>
              <a:rPr lang="en-US" altLang="zh-TW" sz="1600" dirty="0"/>
              <a:t> 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</a:rPr>
              <a:t>組織</a:t>
            </a: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n-US" altLang="zh-TW" sz="1600" dirty="0"/>
              <a:t> </a:t>
            </a:r>
            <a:r>
              <a:rPr lang="zh-TW" altLang="en-US" sz="1600" dirty="0"/>
              <a:t>比對內外網</a:t>
            </a:r>
            <a:r>
              <a:rPr lang="en-US" altLang="zh-TW" sz="1600" dirty="0"/>
              <a:t>table</a:t>
            </a:r>
            <a:r>
              <a:rPr lang="zh-TW" altLang="en-US" sz="1600" dirty="0"/>
              <a:t>，找出同</a:t>
            </a:r>
            <a:r>
              <a:rPr lang="en-US" altLang="zh-TW" sz="1600" dirty="0" err="1"/>
              <a:t>ou</a:t>
            </a:r>
            <a:r>
              <a:rPr lang="zh-TW" altLang="en-US" sz="1600" dirty="0"/>
              <a:t>，但</a:t>
            </a:r>
            <a:r>
              <a:rPr lang="en-US" altLang="zh-TW" sz="1600" dirty="0" err="1"/>
              <a:t>dn_hash</a:t>
            </a:r>
            <a:r>
              <a:rPr lang="zh-TW" altLang="en-US" sz="1600" dirty="0"/>
              <a:t>值不同的物件，並異動外網</a:t>
            </a:r>
            <a:r>
              <a:rPr lang="en-US" altLang="zh-TW" sz="1600" dirty="0"/>
              <a:t>AD</a:t>
            </a:r>
            <a:r>
              <a:rPr lang="zh-TW" altLang="en-US" sz="1600" dirty="0"/>
              <a:t>將該物件移動到正確的</a:t>
            </a:r>
            <a:r>
              <a:rPr lang="en-US" altLang="zh-TW" sz="1600" dirty="0" err="1"/>
              <a:t>ou</a:t>
            </a:r>
            <a:r>
              <a:rPr lang="zh-TW" altLang="en-US" sz="1600" dirty="0"/>
              <a:t>內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/>
              <a:t>                    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</a:rPr>
              <a:t>群組、人員</a:t>
            </a: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zh-TW" altLang="en-US" sz="1600" dirty="0"/>
              <a:t>比對內外網</a:t>
            </a:r>
            <a:r>
              <a:rPr lang="en-US" altLang="zh-TW" sz="1600" dirty="0"/>
              <a:t>table</a:t>
            </a:r>
            <a:r>
              <a:rPr lang="zh-TW" altLang="en-US" sz="1600" dirty="0"/>
              <a:t>，找出同</a:t>
            </a:r>
            <a:r>
              <a:rPr lang="en-US" altLang="zh-TW" sz="1600" dirty="0" err="1"/>
              <a:t>cn</a:t>
            </a:r>
            <a:r>
              <a:rPr lang="zh-TW" altLang="en-US" sz="1600" dirty="0"/>
              <a:t>，但</a:t>
            </a:r>
            <a:r>
              <a:rPr lang="en-US" altLang="zh-TW" sz="1600" dirty="0" err="1"/>
              <a:t>dn_hash</a:t>
            </a:r>
            <a:r>
              <a:rPr lang="zh-TW" altLang="en-US" sz="1600" dirty="0"/>
              <a:t>值不同的物件，並異動外網</a:t>
            </a:r>
            <a:r>
              <a:rPr lang="en-US" altLang="zh-TW" sz="1600" dirty="0"/>
              <a:t>AD</a:t>
            </a:r>
            <a:r>
              <a:rPr lang="zh-TW" altLang="en-US" sz="1600" dirty="0"/>
              <a:t>將該物件移動到正確的</a:t>
            </a:r>
            <a:r>
              <a:rPr lang="en-US" altLang="zh-TW" sz="1600" dirty="0" err="1"/>
              <a:t>ou</a:t>
            </a:r>
            <a:r>
              <a:rPr lang="zh-TW" altLang="en-US" sz="1600" dirty="0"/>
              <a:t>內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80959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CA95-301B-DF8F-09F4-B878D4FF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B5E4C1E-678C-5990-531C-0D2E3464FB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外網</a:t>
            </a:r>
            <a:r>
              <a:rPr lang="en-US" altLang="zh-TW" dirty="0"/>
              <a:t>Jenkins jobs</a:t>
            </a:r>
            <a:r>
              <a:rPr lang="zh-TW" altLang="en-US" dirty="0"/>
              <a:t>說明</a:t>
            </a:r>
            <a:r>
              <a:rPr lang="en-US" altLang="zh-TW" dirty="0"/>
              <a:t>(3)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比對內外網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密碼差異並同步至外網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 :</a:t>
            </a:r>
            <a:r>
              <a:rPr lang="en-US" altLang="zh-TW" sz="1600" dirty="0"/>
              <a:t> </a:t>
            </a:r>
            <a:r>
              <a:rPr lang="zh-TW" altLang="en-US" sz="1600" dirty="0">
                <a:solidFill>
                  <a:srgbClr val="FF0000"/>
                </a:solidFill>
              </a:rPr>
              <a:t>比對同</a:t>
            </a:r>
            <a:r>
              <a:rPr lang="en-US" altLang="zh-TW" sz="1600" dirty="0" err="1">
                <a:solidFill>
                  <a:srgbClr val="FF0000"/>
                </a:solidFill>
              </a:rPr>
              <a:t>dn</a:t>
            </a:r>
            <a:r>
              <a:rPr lang="en-US" altLang="zh-TW" sz="1600" dirty="0">
                <a:solidFill>
                  <a:srgbClr val="FF0000"/>
                </a:solidFill>
              </a:rPr>
              <a:t> person</a:t>
            </a:r>
            <a:r>
              <a:rPr lang="zh-TW" altLang="en-US" sz="1600" dirty="0">
                <a:solidFill>
                  <a:srgbClr val="FF0000"/>
                </a:solidFill>
              </a:rPr>
              <a:t>，內網</a:t>
            </a:r>
            <a:r>
              <a:rPr lang="en-US" altLang="zh-TW" sz="1600" dirty="0" err="1">
                <a:solidFill>
                  <a:srgbClr val="FF0000"/>
                </a:solidFill>
              </a:rPr>
              <a:t>unicodepwd</a:t>
            </a:r>
            <a:r>
              <a:rPr lang="zh-TW" altLang="en-US" sz="1600" dirty="0">
                <a:solidFill>
                  <a:srgbClr val="FF0000"/>
                </a:solidFill>
              </a:rPr>
              <a:t>不為</a:t>
            </a:r>
            <a:r>
              <a:rPr lang="en-US" altLang="zh-TW" sz="1600" dirty="0">
                <a:solidFill>
                  <a:srgbClr val="FF0000"/>
                </a:solidFill>
              </a:rPr>
              <a:t>null</a:t>
            </a:r>
            <a:r>
              <a:rPr lang="zh-TW" altLang="en-US" sz="1600" dirty="0">
                <a:solidFill>
                  <a:srgbClr val="FF0000"/>
                </a:solidFill>
              </a:rPr>
              <a:t>、</a:t>
            </a:r>
            <a:r>
              <a:rPr lang="en-US" altLang="zh-TW" sz="1600" dirty="0">
                <a:solidFill>
                  <a:srgbClr val="FF0000"/>
                </a:solidFill>
              </a:rPr>
              <a:t> extensionattribute1=1</a:t>
            </a:r>
          </a:p>
          <a:p>
            <a:pPr marL="0" indent="0">
              <a:buNone/>
            </a:pPr>
            <a:r>
              <a:rPr lang="en-US" altLang="zh-TW" sz="1600" dirty="0">
                <a:solidFill>
                  <a:srgbClr val="FF0000"/>
                </a:solidFill>
              </a:rPr>
              <a:t>                                                                                </a:t>
            </a:r>
            <a:r>
              <a:rPr lang="zh-TW" altLang="en-US" sz="1600" dirty="0">
                <a:solidFill>
                  <a:srgbClr val="FF0000"/>
                </a:solidFill>
              </a:rPr>
              <a:t>且內網</a:t>
            </a:r>
            <a:r>
              <a:rPr lang="en-US" altLang="zh-TW" sz="1600" dirty="0" err="1">
                <a:solidFill>
                  <a:srgbClr val="FF0000"/>
                </a:solidFill>
              </a:rPr>
              <a:t>pwdlastset</a:t>
            </a:r>
            <a:r>
              <a:rPr lang="en-US" altLang="zh-TW" sz="1600" dirty="0">
                <a:solidFill>
                  <a:srgbClr val="FF0000"/>
                </a:solidFill>
              </a:rPr>
              <a:t> &gt; </a:t>
            </a:r>
            <a:r>
              <a:rPr lang="zh-TW" altLang="en-US" sz="1600" dirty="0">
                <a:solidFill>
                  <a:srgbClr val="FF0000"/>
                </a:solidFill>
              </a:rPr>
              <a:t>外網</a:t>
            </a:r>
            <a:r>
              <a:rPr lang="en-US" altLang="zh-TW" sz="1600" dirty="0" err="1">
                <a:solidFill>
                  <a:srgbClr val="FF0000"/>
                </a:solidFill>
              </a:rPr>
              <a:t>pwdlastset</a:t>
            </a:r>
            <a:r>
              <a:rPr lang="zh-TW" altLang="en-US" sz="1600" dirty="0">
                <a:solidFill>
                  <a:srgbClr val="FF0000"/>
                </a:solidFill>
              </a:rPr>
              <a:t>，則以內網</a:t>
            </a:r>
            <a:r>
              <a:rPr lang="en-US" altLang="zh-TW" sz="1600" dirty="0" err="1">
                <a:solidFill>
                  <a:srgbClr val="FF0000"/>
                </a:solidFill>
              </a:rPr>
              <a:t>unicodepwd</a:t>
            </a:r>
            <a:r>
              <a:rPr lang="zh-TW" altLang="en-US" sz="1600" dirty="0">
                <a:solidFill>
                  <a:srgbClr val="FF0000"/>
                </a:solidFill>
              </a:rPr>
              <a:t>變更外網</a:t>
            </a:r>
            <a:r>
              <a:rPr lang="en-US" altLang="zh-TW" sz="1600" dirty="0">
                <a:solidFill>
                  <a:srgbClr val="FF0000"/>
                </a:solidFill>
              </a:rPr>
              <a:t>AD</a:t>
            </a:r>
            <a:endParaRPr lang="en-US" altLang="zh-TW" sz="1600" dirty="0"/>
          </a:p>
          <a:p>
            <a:pPr marL="0" indent="0">
              <a:buNone/>
            </a:pPr>
            <a:endParaRPr lang="en-US" altLang="zh-TW" sz="1600" dirty="0"/>
          </a:p>
          <a:p>
            <a:pPr marL="0" indent="0">
              <a:buNone/>
            </a:pPr>
            <a:r>
              <a:rPr lang="zh-TW" altLang="en-US" sz="1600" dirty="0"/>
              <a:t>外網</a:t>
            </a:r>
            <a:r>
              <a:rPr lang="en-US" altLang="zh-TW" sz="1600" dirty="0"/>
              <a:t>AD</a:t>
            </a:r>
            <a:r>
              <a:rPr lang="zh-TW" altLang="en-US" sz="1600" dirty="0"/>
              <a:t>密碼同步的</a:t>
            </a:r>
            <a:r>
              <a:rPr lang="en-US" altLang="zh-TW" sz="1600" dirty="0"/>
              <a:t>job</a:t>
            </a:r>
            <a:r>
              <a:rPr lang="zh-TW" altLang="en-US" sz="1600" dirty="0"/>
              <a:t>流程</a:t>
            </a:r>
            <a:r>
              <a:rPr lang="en-US" altLang="zh-TW" sz="1600" dirty="0"/>
              <a:t>:</a:t>
            </a:r>
          </a:p>
          <a:p>
            <a:pPr marL="0" indent="0">
              <a:buNone/>
            </a:pP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YBD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或使用者終端變更密碼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-&gt;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內網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上密碼攔截程式將新密碼寫入內網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IDM DB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-&gt;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中介資料交換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TW" sz="1600" dirty="0">
                <a:solidFill>
                  <a:schemeClr val="accent6"/>
                </a:solidFill>
              </a:rPr>
              <a:t>-&gt; </a:t>
            </a:r>
            <a:r>
              <a:rPr lang="zh-TW" altLang="en-US" sz="1600" dirty="0">
                <a:solidFill>
                  <a:schemeClr val="accent6"/>
                </a:solidFill>
              </a:rPr>
              <a:t>比對內外網</a:t>
            </a:r>
            <a:r>
              <a:rPr lang="en-US" altLang="zh-TW" sz="1600" dirty="0">
                <a:solidFill>
                  <a:schemeClr val="accent6"/>
                </a:solidFill>
              </a:rPr>
              <a:t>AD</a:t>
            </a:r>
            <a:r>
              <a:rPr lang="zh-TW" altLang="en-US" sz="1600" dirty="0">
                <a:solidFill>
                  <a:schemeClr val="accent6"/>
                </a:solidFill>
              </a:rPr>
              <a:t>密碼差異並同步至外網</a:t>
            </a:r>
            <a:r>
              <a:rPr lang="en-US" altLang="zh-TW" sz="1600" dirty="0">
                <a:solidFill>
                  <a:schemeClr val="accent6"/>
                </a:solidFill>
              </a:rPr>
              <a:t>AD -&gt;</a:t>
            </a:r>
            <a:r>
              <a:rPr lang="zh-TW" altLang="en-US" sz="1600" dirty="0">
                <a:solidFill>
                  <a:schemeClr val="accent6"/>
                </a:solidFill>
              </a:rPr>
              <a:t>外網</a:t>
            </a:r>
            <a:r>
              <a:rPr lang="en-US" altLang="zh-TW" sz="1600" dirty="0">
                <a:solidFill>
                  <a:schemeClr val="accent6"/>
                </a:solidFill>
              </a:rPr>
              <a:t>AD</a:t>
            </a:r>
            <a:r>
              <a:rPr lang="zh-TW" altLang="en-US" sz="1600" dirty="0">
                <a:solidFill>
                  <a:schemeClr val="accent6"/>
                </a:solidFill>
              </a:rPr>
              <a:t>上密碼攔截程式將新密碼寫入外網</a:t>
            </a:r>
            <a:r>
              <a:rPr lang="en-US" altLang="zh-TW" sz="1600" dirty="0">
                <a:solidFill>
                  <a:schemeClr val="accent6"/>
                </a:solidFill>
              </a:rPr>
              <a:t>IDM DB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67B78C3-D568-1606-5624-30AAA0663B77}"/>
              </a:ext>
            </a:extLst>
          </p:cNvPr>
          <p:cNvSpPr/>
          <p:nvPr/>
        </p:nvSpPr>
        <p:spPr>
          <a:xfrm>
            <a:off x="452846" y="2633686"/>
            <a:ext cx="10713918" cy="13635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47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42B2A-9513-62BB-8676-3C1E5368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6C7CDB8-E9A2-9870-11A2-3DB7F6143B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外網</a:t>
            </a:r>
            <a:r>
              <a:rPr lang="en-US" altLang="zh-TW" dirty="0"/>
              <a:t>Jenkins jobs</a:t>
            </a:r>
            <a:r>
              <a:rPr lang="zh-TW" altLang="en-US" dirty="0"/>
              <a:t>說明</a:t>
            </a:r>
            <a:r>
              <a:rPr lang="en-US" altLang="zh-TW" dirty="0"/>
              <a:t>(4)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比對資料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-&gt;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刪除外網資料庫與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中已不存在的人員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altLang="zh-TW" sz="1600" dirty="0"/>
              <a:t> (1) </a:t>
            </a:r>
            <a:r>
              <a:rPr lang="zh-TW" altLang="en-US" sz="1600" dirty="0"/>
              <a:t>原本存在</a:t>
            </a:r>
            <a:r>
              <a:rPr lang="en-US" altLang="zh-TW" sz="1600" dirty="0"/>
              <a:t>AD</a:t>
            </a:r>
            <a:r>
              <a:rPr lang="zh-TW" altLang="en-US" sz="1600" dirty="0"/>
              <a:t>後來被刪除的</a:t>
            </a:r>
            <a:r>
              <a:rPr lang="en-US" altLang="zh-TW" sz="1600" dirty="0"/>
              <a:t>group</a:t>
            </a:r>
            <a:r>
              <a:rPr lang="zh-TW" altLang="en-US" sz="1600" dirty="0"/>
              <a:t>、</a:t>
            </a:r>
            <a:r>
              <a:rPr lang="en-US" altLang="zh-TW" sz="1600" dirty="0"/>
              <a:t>person</a:t>
            </a:r>
            <a:r>
              <a:rPr lang="zh-TW" altLang="en-US" sz="1600" dirty="0"/>
              <a:t>，將其從</a:t>
            </a:r>
            <a:r>
              <a:rPr lang="en-US" altLang="zh-TW" sz="1600" dirty="0" err="1"/>
              <a:t>db</a:t>
            </a:r>
            <a:r>
              <a:rPr lang="zh-TW" altLang="en-US" sz="1600" dirty="0"/>
              <a:t>中刪除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/>
              <a:t>                                                                                                    (2) </a:t>
            </a:r>
            <a:r>
              <a:rPr lang="zh-TW" altLang="en-US" sz="1600" dirty="0">
                <a:solidFill>
                  <a:srgbClr val="FF0000"/>
                </a:solidFill>
              </a:rPr>
              <a:t>比對同</a:t>
            </a:r>
            <a:r>
              <a:rPr lang="en-US" altLang="zh-TW" sz="1600" dirty="0" err="1">
                <a:solidFill>
                  <a:srgbClr val="FF0000"/>
                </a:solidFill>
              </a:rPr>
              <a:t>dn</a:t>
            </a:r>
            <a:r>
              <a:rPr lang="en-US" altLang="zh-TW" sz="1600" dirty="0">
                <a:solidFill>
                  <a:srgbClr val="FF0000"/>
                </a:solidFill>
              </a:rPr>
              <a:t> person</a:t>
            </a:r>
            <a:r>
              <a:rPr lang="zh-TW" altLang="en-US" sz="1600" dirty="0">
                <a:solidFill>
                  <a:srgbClr val="FF0000"/>
                </a:solidFill>
              </a:rPr>
              <a:t>，內網</a:t>
            </a:r>
            <a:r>
              <a:rPr lang="en-US" altLang="zh-TW" sz="1600" dirty="0" err="1">
                <a:solidFill>
                  <a:srgbClr val="FF0000"/>
                </a:solidFill>
              </a:rPr>
              <a:t>objectguid</a:t>
            </a:r>
            <a:r>
              <a:rPr lang="zh-TW" altLang="en-US" sz="1600" dirty="0">
                <a:solidFill>
                  <a:srgbClr val="FF0000"/>
                </a:solidFill>
              </a:rPr>
              <a:t>為</a:t>
            </a:r>
            <a:r>
              <a:rPr lang="en-US" altLang="zh-TW" sz="1600" dirty="0">
                <a:solidFill>
                  <a:srgbClr val="FF0000"/>
                </a:solidFill>
              </a:rPr>
              <a:t>-1</a:t>
            </a:r>
            <a:r>
              <a:rPr lang="zh-TW" altLang="en-US" sz="1600" dirty="0">
                <a:solidFill>
                  <a:srgbClr val="FF0000"/>
                </a:solidFill>
              </a:rPr>
              <a:t>，外網</a:t>
            </a:r>
            <a:r>
              <a:rPr lang="en-US" altLang="zh-TW" sz="1600" dirty="0" err="1">
                <a:solidFill>
                  <a:srgbClr val="FF0000"/>
                </a:solidFill>
              </a:rPr>
              <a:t>useraccountcontrol</a:t>
            </a:r>
            <a:r>
              <a:rPr lang="zh-TW" altLang="en-US" sz="1600" dirty="0">
                <a:solidFill>
                  <a:srgbClr val="FF0000"/>
                </a:solidFill>
              </a:rPr>
              <a:t>為</a:t>
            </a:r>
            <a:r>
              <a:rPr lang="en-US" altLang="zh-TW" sz="1600" dirty="0">
                <a:solidFill>
                  <a:srgbClr val="FF0000"/>
                </a:solidFill>
              </a:rPr>
              <a:t>514</a:t>
            </a:r>
          </a:p>
          <a:p>
            <a:pPr marL="0" indent="0">
              <a:buNone/>
            </a:pPr>
            <a:r>
              <a:rPr lang="en-US" altLang="zh-TW" sz="1600" dirty="0">
                <a:solidFill>
                  <a:srgbClr val="FF0000"/>
                </a:solidFill>
              </a:rPr>
              <a:t>					      </a:t>
            </a:r>
            <a:r>
              <a:rPr lang="zh-TW" altLang="en-US" sz="1600" dirty="0">
                <a:solidFill>
                  <a:srgbClr val="FF0000"/>
                </a:solidFill>
              </a:rPr>
              <a:t>且</a:t>
            </a:r>
            <a:r>
              <a:rPr lang="en-US" altLang="zh-TW" sz="1600" dirty="0" err="1">
                <a:solidFill>
                  <a:srgbClr val="FF0000"/>
                </a:solidFill>
              </a:rPr>
              <a:t>userparameters</a:t>
            </a:r>
            <a:r>
              <a:rPr lang="zh-TW" altLang="en-US" sz="1600" dirty="0">
                <a:solidFill>
                  <a:srgbClr val="FF0000"/>
                </a:solidFill>
              </a:rPr>
              <a:t>為</a:t>
            </a:r>
            <a:r>
              <a:rPr lang="en-US" altLang="zh-TW" sz="1600" dirty="0">
                <a:solidFill>
                  <a:srgbClr val="FF0000"/>
                </a:solidFill>
              </a:rPr>
              <a:t>DELETE</a:t>
            </a:r>
            <a:r>
              <a:rPr lang="zh-TW" altLang="en-US" sz="1600" dirty="0">
                <a:solidFill>
                  <a:srgbClr val="FF0000"/>
                </a:solidFill>
              </a:rPr>
              <a:t>的</a:t>
            </a:r>
            <a:r>
              <a:rPr lang="en-US" altLang="zh-TW" sz="1600" dirty="0">
                <a:solidFill>
                  <a:srgbClr val="FF0000"/>
                </a:solidFill>
              </a:rPr>
              <a:t>person</a:t>
            </a:r>
            <a:r>
              <a:rPr lang="zh-TW" altLang="en-US" sz="1600" dirty="0">
                <a:solidFill>
                  <a:srgbClr val="FF0000"/>
                </a:solidFill>
              </a:rPr>
              <a:t>，將其從</a:t>
            </a:r>
            <a:r>
              <a:rPr lang="en-US" altLang="zh-TW" sz="1600" dirty="0">
                <a:solidFill>
                  <a:srgbClr val="FF0000"/>
                </a:solidFill>
              </a:rPr>
              <a:t>AD</a:t>
            </a:r>
            <a:r>
              <a:rPr lang="zh-TW" altLang="en-US" sz="1600" dirty="0">
                <a:solidFill>
                  <a:srgbClr val="FF0000"/>
                </a:solidFill>
              </a:rPr>
              <a:t>中刪除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1600" dirty="0"/>
          </a:p>
          <a:p>
            <a:pPr marL="0" indent="0">
              <a:buNone/>
            </a:pPr>
            <a:r>
              <a:rPr lang="zh-TW" altLang="en-US" sz="1600" dirty="0"/>
              <a:t>外網</a:t>
            </a:r>
            <a:r>
              <a:rPr lang="en-US" altLang="zh-TW" sz="1600" dirty="0"/>
              <a:t>AD</a:t>
            </a:r>
            <a:r>
              <a:rPr lang="zh-TW" altLang="en-US" sz="1600" dirty="0"/>
              <a:t>帳號被刪除的</a:t>
            </a:r>
            <a:r>
              <a:rPr lang="en-US" altLang="zh-TW" sz="1600" dirty="0"/>
              <a:t>job</a:t>
            </a:r>
            <a:r>
              <a:rPr lang="zh-TW" altLang="en-US" sz="1600" dirty="0"/>
              <a:t>流程</a:t>
            </a:r>
            <a:r>
              <a:rPr lang="en-US" altLang="zh-TW" sz="1600" dirty="0"/>
              <a:t>: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內網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內該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person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被刪除不存在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-&gt;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標記內網資料庫中已不在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中的人員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altLang="zh-TW" sz="1600" dirty="0" err="1">
                <a:solidFill>
                  <a:srgbClr val="FF0000"/>
                </a:solidFill>
              </a:rPr>
              <a:t>objectguid</a:t>
            </a:r>
            <a:r>
              <a:rPr lang="zh-TW" altLang="en-US" sz="1600" dirty="0">
                <a:solidFill>
                  <a:srgbClr val="FF0000"/>
                </a:solidFill>
              </a:rPr>
              <a:t>設為</a:t>
            </a:r>
            <a:r>
              <a:rPr lang="en-US" altLang="zh-TW" sz="1600" dirty="0">
                <a:solidFill>
                  <a:srgbClr val="FF0000"/>
                </a:solidFill>
              </a:rPr>
              <a:t>-1</a:t>
            </a:r>
            <a:r>
              <a:rPr lang="zh-TW" altLang="en-US" sz="1600" dirty="0">
                <a:solidFill>
                  <a:srgbClr val="FF0000"/>
                </a:solidFill>
              </a:rPr>
              <a:t>等等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-&gt;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中介資料交換 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-&gt;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比對內外網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資料差異並同步至外網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 -&gt;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擷取外網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AD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資料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(B01ROOT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</a:rPr>
              <a:t>、</a:t>
            </a:r>
            <a:r>
              <a:rPr lang="en-US" altLang="zh-TW" sz="1600" dirty="0">
                <a:solidFill>
                  <a:schemeClr val="accent2">
                    <a:lumMod val="75000"/>
                  </a:schemeClr>
                </a:solidFill>
              </a:rPr>
              <a:t>BELROOT) </a:t>
            </a:r>
          </a:p>
          <a:p>
            <a:pPr marL="0" indent="0">
              <a:buNone/>
            </a:pPr>
            <a:r>
              <a:rPr lang="en-US" altLang="zh-TW" sz="1600" dirty="0">
                <a:solidFill>
                  <a:schemeClr val="accent6"/>
                </a:solidFill>
              </a:rPr>
              <a:t>-&gt; </a:t>
            </a:r>
            <a:r>
              <a:rPr lang="zh-TW" altLang="en-US" sz="1600" dirty="0">
                <a:solidFill>
                  <a:schemeClr val="accent6"/>
                </a:solidFill>
              </a:rPr>
              <a:t>比對資料刪除外網資料庫與</a:t>
            </a:r>
            <a:r>
              <a:rPr lang="en-US" altLang="zh-TW" sz="1600" dirty="0">
                <a:solidFill>
                  <a:schemeClr val="accent6"/>
                </a:solidFill>
              </a:rPr>
              <a:t>AD</a:t>
            </a:r>
            <a:r>
              <a:rPr lang="zh-TW" altLang="en-US" sz="1600" dirty="0">
                <a:solidFill>
                  <a:schemeClr val="accent6"/>
                </a:solidFill>
              </a:rPr>
              <a:t>中已不存在的人員</a:t>
            </a:r>
            <a:endParaRPr lang="en-US" altLang="zh-TW" sz="16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altLang="zh-TW" sz="1600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121E24C-7973-8443-DCB7-9C5D5C9ECDE3}"/>
              </a:ext>
            </a:extLst>
          </p:cNvPr>
          <p:cNvSpPr/>
          <p:nvPr/>
        </p:nvSpPr>
        <p:spPr>
          <a:xfrm>
            <a:off x="452846" y="2892176"/>
            <a:ext cx="10713918" cy="1590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9649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F605-900B-EFAD-AA02-B8541080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02EB65E-7978-BBFF-BD4F-A4239F6E51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三</a:t>
            </a:r>
            <a:r>
              <a:rPr lang="en-US" altLang="zh-TW" dirty="0"/>
              <a:t>) </a:t>
            </a:r>
            <a:r>
              <a:rPr lang="zh-TW" altLang="en-US" dirty="0"/>
              <a:t>資料庫說明</a:t>
            </a:r>
            <a:r>
              <a:rPr lang="en-US" altLang="zh-TW" dirty="0"/>
              <a:t>-</a:t>
            </a:r>
            <a:r>
              <a:rPr lang="zh-TW" altLang="en-US" dirty="0"/>
              <a:t>資料庫工具 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sz="1600" dirty="0"/>
              <a:t>各區內外網第</a:t>
            </a:r>
            <a:r>
              <a:rPr lang="en-US" altLang="zh-TW" sz="1600" dirty="0"/>
              <a:t>1</a:t>
            </a:r>
            <a:r>
              <a:rPr lang="zh-TW" altLang="en-US" sz="1600" dirty="0"/>
              <a:t>台</a:t>
            </a:r>
            <a:r>
              <a:rPr lang="en-US" altLang="zh-TW" sz="1600" dirty="0"/>
              <a:t>AD</a:t>
            </a:r>
            <a:r>
              <a:rPr lang="zh-TW" altLang="en-US" sz="1600" dirty="0"/>
              <a:t>的</a:t>
            </a:r>
            <a:r>
              <a:rPr lang="en-US" altLang="zh-TW" sz="1600" dirty="0"/>
              <a:t>D</a:t>
            </a:r>
            <a:r>
              <a:rPr lang="zh-TW" altLang="en-US" sz="1600" dirty="0"/>
              <a:t>槽內都放有</a:t>
            </a:r>
            <a:r>
              <a:rPr lang="en-US" altLang="zh-TW" sz="1600" dirty="0" err="1"/>
              <a:t>Dbeaver</a:t>
            </a:r>
            <a:r>
              <a:rPr lang="zh-TW" altLang="en-US" sz="1600" dirty="0"/>
              <a:t>資料庫工具，按右鍵以系統管理員執行</a:t>
            </a:r>
            <a:r>
              <a:rPr lang="en-US" altLang="zh-TW" sz="1600" dirty="0"/>
              <a:t>start_dbeaver.bat</a:t>
            </a:r>
          </a:p>
          <a:p>
            <a:pPr marL="0" indent="0">
              <a:buNone/>
            </a:pPr>
            <a:endParaRPr lang="en-US" altLang="zh-TW" sz="1600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0B0F77-EFF0-1CC0-4170-E28126B4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6" y="1748110"/>
            <a:ext cx="7419703" cy="4000520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39FE78A6-DA0F-C35E-4977-5F79ADCCF1FC}"/>
              </a:ext>
            </a:extLst>
          </p:cNvPr>
          <p:cNvSpPr/>
          <p:nvPr/>
        </p:nvSpPr>
        <p:spPr>
          <a:xfrm>
            <a:off x="452846" y="5390605"/>
            <a:ext cx="7611291" cy="3580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753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E5F2-05D0-E27A-9FF3-10C30820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D19E708-C228-06E2-12FE-4E4EF1788D4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資料庫欄位說明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600" dirty="0"/>
              <a:t>_</a:t>
            </a:r>
            <a:r>
              <a:rPr lang="en-US" altLang="zh-TW" sz="1600" dirty="0" err="1"/>
              <a:t>organizationalunit</a:t>
            </a:r>
            <a:r>
              <a:rPr lang="en-US" altLang="zh-TW" sz="1600" dirty="0"/>
              <a:t>_:</a:t>
            </a:r>
            <a:r>
              <a:rPr lang="zh-TW" altLang="en-US" sz="1600" dirty="0"/>
              <a:t>儲存組織</a:t>
            </a:r>
            <a:r>
              <a:rPr lang="en-US" altLang="zh-TW" sz="1600" dirty="0" err="1"/>
              <a:t>ou</a:t>
            </a:r>
            <a:r>
              <a:rPr lang="zh-TW" altLang="en-US" sz="1600" dirty="0"/>
              <a:t>相關屬性資料</a:t>
            </a:r>
            <a:br>
              <a:rPr lang="en-US" altLang="zh-TW" sz="1600" dirty="0"/>
            </a:br>
            <a:r>
              <a:rPr lang="en-US" altLang="zh-TW" sz="1600" dirty="0"/>
              <a:t>_group_:</a:t>
            </a:r>
            <a:r>
              <a:rPr lang="zh-TW" altLang="en-US" sz="1600" dirty="0"/>
              <a:t>儲存群組</a:t>
            </a:r>
            <a:r>
              <a:rPr lang="en-US" altLang="zh-TW" sz="1600" dirty="0"/>
              <a:t>group</a:t>
            </a:r>
            <a:r>
              <a:rPr lang="zh-TW" altLang="en-US" sz="1600" dirty="0"/>
              <a:t>相關屬性資料</a:t>
            </a:r>
            <a:br>
              <a:rPr lang="en-US" altLang="zh-TW" sz="1600" dirty="0"/>
            </a:br>
            <a:r>
              <a:rPr lang="en-US" altLang="zh-TW" sz="1600" dirty="0"/>
              <a:t>_person_:</a:t>
            </a:r>
            <a:r>
              <a:rPr lang="zh-TW" altLang="en-US" sz="1600" dirty="0"/>
              <a:t>儲存使用者</a:t>
            </a:r>
            <a:r>
              <a:rPr lang="en-US" altLang="zh-TW" sz="1600" dirty="0"/>
              <a:t>person</a:t>
            </a:r>
            <a:r>
              <a:rPr lang="zh-TW" altLang="en-US" sz="1600" dirty="0"/>
              <a:t>相關屬性資料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/>
              <a:t>_sync_:</a:t>
            </a:r>
            <a:r>
              <a:rPr lang="zh-TW" altLang="en-US" sz="1600" dirty="0"/>
              <a:t>內網資料庫裡看表示是由外網同步回內網的資料，反之。</a:t>
            </a:r>
            <a:endParaRPr lang="en-US" altLang="zh-TW" sz="1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3BE2D7-F6C1-16A9-C84C-4F5443358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6" y="2731181"/>
            <a:ext cx="10572750" cy="3514725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706C5BF1-A91E-BFEE-B82D-ADB58141BF10}"/>
              </a:ext>
            </a:extLst>
          </p:cNvPr>
          <p:cNvSpPr/>
          <p:nvPr/>
        </p:nvSpPr>
        <p:spPr>
          <a:xfrm>
            <a:off x="7341870" y="3079684"/>
            <a:ext cx="2786199" cy="9785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144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91FF-09A6-626F-708E-D21E7CCA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4D8AA95-D4B4-5817-71B8-2E5019751C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四</a:t>
            </a:r>
            <a:r>
              <a:rPr lang="en-US" altLang="zh-TW" dirty="0"/>
              <a:t>) </a:t>
            </a:r>
            <a:r>
              <a:rPr lang="zh-TW" altLang="en-US" dirty="0"/>
              <a:t>異常排除 </a:t>
            </a:r>
            <a:r>
              <a:rPr lang="en-US" altLang="zh-TW" dirty="0"/>
              <a:t>– </a:t>
            </a:r>
            <a:r>
              <a:rPr lang="zh-TW" altLang="en-US" dirty="0"/>
              <a:t>帳號建立失敗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dirty="0"/>
              <a:t>(1) </a:t>
            </a:r>
            <a:r>
              <a:rPr lang="zh-TW" altLang="en-US" sz="1800" dirty="0"/>
              <a:t>先確認內網</a:t>
            </a:r>
            <a:r>
              <a:rPr lang="en-US" altLang="zh-TW" sz="1800" dirty="0"/>
              <a:t>AD</a:t>
            </a:r>
            <a:r>
              <a:rPr lang="zh-TW" altLang="en-US" sz="1800" dirty="0"/>
              <a:t>此帳號是否已建立 </a:t>
            </a:r>
            <a:r>
              <a:rPr lang="en-US" altLang="zh-TW" sz="1800" dirty="0"/>
              <a:t>– </a:t>
            </a:r>
            <a:r>
              <a:rPr lang="zh-TW" altLang="en-US" sz="1800" dirty="0"/>
              <a:t>若無，聯繫</a:t>
            </a:r>
            <a:r>
              <a:rPr lang="en-US" altLang="zh-TW" sz="1800" dirty="0"/>
              <a:t>YBD</a:t>
            </a:r>
            <a:r>
              <a:rPr lang="zh-TW" altLang="en-US" sz="1800" dirty="0"/>
              <a:t>確認內網建立失敗原因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(2) </a:t>
            </a:r>
            <a:r>
              <a:rPr lang="zh-TW" altLang="en-US" sz="1800" dirty="0"/>
              <a:t>查看</a:t>
            </a:r>
            <a:r>
              <a:rPr lang="en-US" altLang="zh-TW" sz="1800" dirty="0"/>
              <a:t>mail report</a:t>
            </a:r>
            <a:r>
              <a:rPr lang="zh-TW" altLang="en-US" sz="1800" dirty="0"/>
              <a:t>確認同步是否正常 </a:t>
            </a:r>
            <a:r>
              <a:rPr lang="en-US" altLang="zh-TW" sz="1800" dirty="0"/>
              <a:t>– </a:t>
            </a:r>
            <a:r>
              <a:rPr lang="zh-TW" altLang="en-US" sz="1800" dirty="0"/>
              <a:t>若內網超時狀態異常請開啟內網</a:t>
            </a:r>
            <a:r>
              <a:rPr lang="en-US" altLang="zh-TW" sz="1800" dirty="0" err="1"/>
              <a:t>jenkins</a:t>
            </a:r>
            <a:r>
              <a:rPr lang="zh-TW" altLang="en-US" sz="1800" dirty="0"/>
              <a:t>，確認</a:t>
            </a:r>
            <a:r>
              <a:rPr lang="en-US" altLang="zh-TW" sz="1800" dirty="0"/>
              <a:t>jobs</a:t>
            </a:r>
            <a:r>
              <a:rPr lang="zh-TW" altLang="en-US" sz="1800" dirty="0"/>
              <a:t>都正常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                                                                         </a:t>
            </a:r>
            <a:r>
              <a:rPr lang="zh-TW" altLang="en-US" sz="1800" dirty="0"/>
              <a:t>若外網超時狀態異常請開啟中介與外網</a:t>
            </a:r>
            <a:r>
              <a:rPr lang="en-US" altLang="zh-TW" sz="1800" dirty="0" err="1"/>
              <a:t>jenkins</a:t>
            </a:r>
            <a:r>
              <a:rPr lang="zh-TW" altLang="en-US" sz="1800" dirty="0"/>
              <a:t>，確認</a:t>
            </a:r>
            <a:r>
              <a:rPr lang="en-US" altLang="zh-TW" sz="1800" dirty="0"/>
              <a:t>jobs</a:t>
            </a:r>
            <a:r>
              <a:rPr lang="zh-TW" altLang="en-US" sz="1800" dirty="0"/>
              <a:t>都正常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                     </a:t>
            </a:r>
            <a:r>
              <a:rPr lang="zh-TW" altLang="en-US" sz="1800" dirty="0"/>
              <a:t>也確認中介主機與內外網</a:t>
            </a:r>
            <a:r>
              <a:rPr lang="en-US" altLang="zh-TW" sz="1800" dirty="0"/>
              <a:t>IDM</a:t>
            </a:r>
            <a:r>
              <a:rPr lang="zh-TW" altLang="en-US" sz="1800" dirty="0"/>
              <a:t>主機的實體隔離交換正常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                                                                         (</a:t>
            </a:r>
            <a:r>
              <a:rPr lang="zh-TW" altLang="en-US" sz="1800" dirty="0"/>
              <a:t>若無</a:t>
            </a:r>
            <a:r>
              <a:rPr lang="en-US" altLang="zh-TW" sz="1800" dirty="0"/>
              <a:t>GUI</a:t>
            </a:r>
            <a:r>
              <a:rPr lang="zh-TW" altLang="en-US" sz="1800" dirty="0"/>
              <a:t>介面，執行 </a:t>
            </a:r>
            <a:r>
              <a:rPr lang="en-US" altLang="zh-TW" sz="1800" dirty="0" err="1"/>
              <a:t>sudo</a:t>
            </a:r>
            <a:r>
              <a:rPr lang="en-US" altLang="zh-TW" sz="1800" dirty="0"/>
              <a:t> </a:t>
            </a:r>
            <a:r>
              <a:rPr lang="en-US" altLang="zh-TW" sz="1800" dirty="0" err="1"/>
              <a:t>podman</a:t>
            </a:r>
            <a:r>
              <a:rPr lang="en-US" altLang="zh-TW" sz="1800" dirty="0"/>
              <a:t> </a:t>
            </a:r>
            <a:r>
              <a:rPr lang="en-US" altLang="zh-TW" sz="1800" dirty="0" err="1"/>
              <a:t>ps</a:t>
            </a:r>
            <a:r>
              <a:rPr lang="en-US" altLang="zh-TW" sz="1800" dirty="0"/>
              <a:t> -a </a:t>
            </a:r>
            <a:r>
              <a:rPr lang="zh-TW" altLang="en-US" sz="1800" dirty="0"/>
              <a:t>確認</a:t>
            </a:r>
            <a:r>
              <a:rPr lang="en-US" altLang="zh-TW" sz="1800" dirty="0"/>
              <a:t>3</a:t>
            </a:r>
            <a:r>
              <a:rPr lang="zh-TW" altLang="en-US" sz="1800" dirty="0"/>
              <a:t>個容器都正常執行</a:t>
            </a:r>
            <a:r>
              <a:rPr lang="en-US" altLang="zh-TW" sz="1800" dirty="0"/>
              <a:t>)</a:t>
            </a:r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110108D-8154-4DDE-D8F8-1C0B76F4D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024"/>
            <a:ext cx="121920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244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805E-1CAF-1921-0A83-C77DD882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8E4B3FC-E9F7-A00A-3C84-D6002AFDB1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(3) </a:t>
            </a:r>
            <a:r>
              <a:rPr lang="zh-TW" altLang="en-US" sz="1800" dirty="0"/>
              <a:t>確認此帳號資訊已由內網資料庫同步到外網資料庫 </a:t>
            </a:r>
            <a:r>
              <a:rPr lang="en-US" altLang="zh-TW" sz="1800" dirty="0"/>
              <a:t>– </a:t>
            </a:r>
            <a:r>
              <a:rPr lang="zh-TW" altLang="en-US" sz="1800" dirty="0"/>
              <a:t>開啟外網</a:t>
            </a:r>
            <a:r>
              <a:rPr lang="en-US" altLang="zh-TW" sz="1800" dirty="0" err="1"/>
              <a:t>Dbeaver</a:t>
            </a:r>
            <a:r>
              <a:rPr lang="zh-TW" altLang="en-US" sz="1800" dirty="0"/>
              <a:t>工具，雙點擊</a:t>
            </a:r>
            <a:r>
              <a:rPr lang="en-US" altLang="zh-TW" sz="1800" dirty="0" err="1">
                <a:solidFill>
                  <a:srgbClr val="FF0000"/>
                </a:solidFill>
              </a:rPr>
              <a:t>connector_space_ad_person_sync_details</a:t>
            </a:r>
            <a:r>
              <a:rPr lang="zh-TW" altLang="en-US" sz="1800" dirty="0"/>
              <a:t>資料表，查詢</a:t>
            </a:r>
            <a:r>
              <a:rPr lang="en-US" altLang="zh-TW" sz="1800" dirty="0" err="1"/>
              <a:t>cn</a:t>
            </a:r>
            <a:r>
              <a:rPr lang="zh-TW" altLang="en-US" sz="1800" dirty="0"/>
              <a:t>確認帳號是否有同步到外網資料庫</a:t>
            </a: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DCF6C7B-2419-0D43-1958-91FB6357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6" y="1557459"/>
            <a:ext cx="9583392" cy="4438391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29DFA9DC-2E67-A608-2443-EB64F7528DC6}"/>
              </a:ext>
            </a:extLst>
          </p:cNvPr>
          <p:cNvSpPr/>
          <p:nvPr/>
        </p:nvSpPr>
        <p:spPr>
          <a:xfrm>
            <a:off x="4611460" y="1736075"/>
            <a:ext cx="3394205" cy="10817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479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CD91-4058-BA49-D206-E873A3DA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75342B3-BD33-F0BF-5AA8-184BB29AC0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(4) </a:t>
            </a:r>
            <a:r>
              <a:rPr lang="zh-TW" altLang="en-US" sz="1800" dirty="0"/>
              <a:t>如果已同步到外網資料庫但外網</a:t>
            </a:r>
            <a:r>
              <a:rPr lang="en-US" altLang="zh-TW" sz="1800" dirty="0"/>
              <a:t>AD</a:t>
            </a:r>
            <a:r>
              <a:rPr lang="zh-TW" altLang="en-US" sz="1800" dirty="0"/>
              <a:t>帳號無建立 </a:t>
            </a:r>
            <a:r>
              <a:rPr lang="en-US" altLang="zh-TW" sz="1800" dirty="0"/>
              <a:t>– </a:t>
            </a:r>
            <a:r>
              <a:rPr lang="zh-TW" altLang="en-US" sz="1800" dirty="0"/>
              <a:t>打開外網</a:t>
            </a:r>
            <a:r>
              <a:rPr lang="en-US" altLang="zh-TW" sz="1800" dirty="0"/>
              <a:t>Jenkins</a:t>
            </a:r>
            <a:r>
              <a:rPr lang="zh-TW" altLang="en-US" sz="1800" dirty="0"/>
              <a:t>點擊</a:t>
            </a:r>
            <a:r>
              <a:rPr lang="en-US" altLang="zh-TW" sz="1800" dirty="0"/>
              <a:t>”</a:t>
            </a:r>
            <a:r>
              <a:rPr lang="zh-TW" altLang="en-US" sz="1800" dirty="0"/>
              <a:t>比對內外網</a:t>
            </a:r>
            <a:r>
              <a:rPr lang="en-US" altLang="zh-TW" sz="1800" dirty="0"/>
              <a:t>AD</a:t>
            </a:r>
            <a:r>
              <a:rPr lang="zh-TW" altLang="en-US" sz="1800" dirty="0"/>
              <a:t>資料差異並同步至外</a:t>
            </a:r>
            <a:r>
              <a:rPr lang="en-US" altLang="zh-TW" sz="1800" dirty="0"/>
              <a:t>					           </a:t>
            </a:r>
            <a:r>
              <a:rPr lang="zh-TW" altLang="en-US" sz="1800" dirty="0"/>
              <a:t>網</a:t>
            </a:r>
            <a:r>
              <a:rPr lang="en-US" altLang="zh-TW" sz="1800" dirty="0"/>
              <a:t>”</a:t>
            </a:r>
            <a:r>
              <a:rPr lang="zh-TW" altLang="en-US" sz="1800" dirty="0"/>
              <a:t>的</a:t>
            </a:r>
            <a:r>
              <a:rPr lang="en-US" altLang="zh-TW" sz="1800" dirty="0"/>
              <a:t>job</a:t>
            </a:r>
            <a:r>
              <a:rPr lang="zh-TW" altLang="en-US" sz="1800" dirty="0"/>
              <a:t>，如下圖步驟下載最新</a:t>
            </a:r>
            <a:r>
              <a:rPr lang="en-US" altLang="zh-TW" sz="1800" dirty="0"/>
              <a:t>job</a:t>
            </a:r>
            <a:r>
              <a:rPr lang="zh-TW" altLang="en-US" sz="1800" dirty="0"/>
              <a:t>的</a:t>
            </a:r>
            <a:r>
              <a:rPr lang="en-US" altLang="zh-TW" sz="1800" dirty="0"/>
              <a:t>log</a:t>
            </a:r>
            <a:r>
              <a:rPr lang="zh-TW" altLang="en-US" sz="1800" dirty="0"/>
              <a:t>並寄給</a:t>
            </a:r>
            <a:r>
              <a:rPr lang="en-US" altLang="zh-TW" sz="1800" dirty="0"/>
              <a:t>IDM SA</a:t>
            </a:r>
            <a:r>
              <a:rPr lang="zh-TW" altLang="en-US" sz="1800" dirty="0"/>
              <a:t>判斷</a:t>
            </a:r>
            <a:r>
              <a:rPr lang="en-US" altLang="zh-TW" sz="1800" dirty="0"/>
              <a:t>					           </a:t>
            </a:r>
            <a:r>
              <a:rPr lang="zh-TW" altLang="en-US" sz="1800" dirty="0"/>
              <a:t>問題原因。</a:t>
            </a: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EAE495B-9073-6F48-1C1D-F838A9A05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98" y="1815714"/>
            <a:ext cx="4507530" cy="260324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E488871-87C5-8A47-520A-08928FE04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29" y="1815714"/>
            <a:ext cx="2507796" cy="42517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CF24CDE-6C90-530F-1EAF-9A07E19E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560" y="1815714"/>
            <a:ext cx="2364998" cy="296026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928512C-472D-5530-6DA0-6EC3ACFF7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808" y="4812370"/>
            <a:ext cx="5522192" cy="2045630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2354DE1-9395-6054-F2FE-70CB7376D899}"/>
              </a:ext>
            </a:extLst>
          </p:cNvPr>
          <p:cNvSpPr/>
          <p:nvPr/>
        </p:nvSpPr>
        <p:spPr>
          <a:xfrm>
            <a:off x="1857163" y="3554026"/>
            <a:ext cx="1921566" cy="3834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B1B4B75-7D13-9836-1EBD-F9E053D5392F}"/>
              </a:ext>
            </a:extLst>
          </p:cNvPr>
          <p:cNvSpPr/>
          <p:nvPr/>
        </p:nvSpPr>
        <p:spPr>
          <a:xfrm>
            <a:off x="3781085" y="5451694"/>
            <a:ext cx="1593348" cy="4359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438DB41-6394-305D-6804-435B67AF6EAD}"/>
              </a:ext>
            </a:extLst>
          </p:cNvPr>
          <p:cNvSpPr/>
          <p:nvPr/>
        </p:nvSpPr>
        <p:spPr>
          <a:xfrm>
            <a:off x="6096000" y="3170535"/>
            <a:ext cx="1573763" cy="3834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9A944CD-3DE6-3091-7DEB-A1CC957643D2}"/>
              </a:ext>
            </a:extLst>
          </p:cNvPr>
          <p:cNvSpPr/>
          <p:nvPr/>
        </p:nvSpPr>
        <p:spPr>
          <a:xfrm>
            <a:off x="11303810" y="4812370"/>
            <a:ext cx="870688" cy="3941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8F96F68-0811-A5B1-942B-2F2767AE0B63}"/>
              </a:ext>
            </a:extLst>
          </p:cNvPr>
          <p:cNvCxnSpPr>
            <a:cxnSpLocks/>
          </p:cNvCxnSpPr>
          <p:nvPr/>
        </p:nvCxnSpPr>
        <p:spPr>
          <a:xfrm>
            <a:off x="3890865" y="4049486"/>
            <a:ext cx="941355" cy="13230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65DABDD-1388-6820-88E6-F9CB94359A5F}"/>
              </a:ext>
            </a:extLst>
          </p:cNvPr>
          <p:cNvCxnSpPr>
            <a:cxnSpLocks/>
          </p:cNvCxnSpPr>
          <p:nvPr/>
        </p:nvCxnSpPr>
        <p:spPr>
          <a:xfrm flipV="1">
            <a:off x="4992967" y="3554026"/>
            <a:ext cx="1011593" cy="18502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253EC77B-CB1C-386B-D661-640BD99633B7}"/>
              </a:ext>
            </a:extLst>
          </p:cNvPr>
          <p:cNvCxnSpPr>
            <a:cxnSpLocks/>
          </p:cNvCxnSpPr>
          <p:nvPr/>
        </p:nvCxnSpPr>
        <p:spPr>
          <a:xfrm>
            <a:off x="7791450" y="3554026"/>
            <a:ext cx="3390667" cy="125656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11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4150-27A3-02EE-E16F-60F19A8C4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5F86992-CB67-8AD5-7D9F-E6787F7542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異常排除 </a:t>
            </a:r>
            <a:r>
              <a:rPr lang="en-US" altLang="zh-TW" dirty="0"/>
              <a:t>– </a:t>
            </a:r>
            <a:r>
              <a:rPr lang="zh-TW" altLang="en-US" dirty="0"/>
              <a:t>密碼同步失敗</a:t>
            </a:r>
            <a:endParaRPr lang="en-US" altLang="zh-TW" dirty="0"/>
          </a:p>
          <a:p>
            <a:pPr marL="342900" indent="-342900">
              <a:buAutoNum type="arabicParenBoth"/>
            </a:pPr>
            <a:r>
              <a:rPr lang="zh-TW" altLang="en-US" sz="1800" dirty="0"/>
              <a:t>先確認內網</a:t>
            </a:r>
            <a:r>
              <a:rPr lang="en-US" altLang="zh-TW" sz="1800" dirty="0"/>
              <a:t>AD</a:t>
            </a:r>
            <a:r>
              <a:rPr lang="zh-TW" altLang="en-US" sz="1800" dirty="0"/>
              <a:t>的密碼攔截</a:t>
            </a:r>
            <a:r>
              <a:rPr lang="en-US" altLang="zh-TW" sz="1800" dirty="0"/>
              <a:t>log</a:t>
            </a:r>
            <a:r>
              <a:rPr lang="zh-TW" altLang="en-US" sz="1800" dirty="0"/>
              <a:t> </a:t>
            </a:r>
            <a:r>
              <a:rPr lang="en-US" altLang="zh-TW" sz="1800" dirty="0"/>
              <a:t>– </a:t>
            </a:r>
            <a:r>
              <a:rPr lang="zh-TW" altLang="en-US" sz="1800" dirty="0"/>
              <a:t>如果是由</a:t>
            </a:r>
            <a:r>
              <a:rPr lang="en-US" altLang="zh-TW" sz="1800" dirty="0"/>
              <a:t>YBD</a:t>
            </a:r>
            <a:r>
              <a:rPr lang="zh-TW" altLang="en-US" sz="1800" dirty="0"/>
              <a:t>進行的密碼變更，查詢中心第三台</a:t>
            </a:r>
            <a:r>
              <a:rPr lang="en-US" altLang="zh-TW" sz="1800" dirty="0"/>
              <a:t>AD</a:t>
            </a:r>
            <a:r>
              <a:rPr lang="zh-TW" altLang="en-US" sz="1800" dirty="0"/>
              <a:t>，如果是使用者終端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			ctrl + alt + del </a:t>
            </a:r>
            <a:r>
              <a:rPr lang="zh-TW" altLang="en-US" sz="1800" dirty="0"/>
              <a:t>變更，查詢就地</a:t>
            </a:r>
            <a:r>
              <a:rPr lang="en-US" altLang="zh-TW" sz="1800" dirty="0"/>
              <a:t>AD1</a:t>
            </a:r>
            <a:r>
              <a:rPr lang="zh-TW" altLang="en-US" sz="1800" dirty="0"/>
              <a:t>或</a:t>
            </a:r>
            <a:r>
              <a:rPr lang="en-US" altLang="zh-TW" sz="1800" dirty="0"/>
              <a:t>AD2</a:t>
            </a:r>
            <a:r>
              <a:rPr lang="zh-TW" altLang="en-US" sz="1800" dirty="0"/>
              <a:t>，打開使用者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			</a:t>
            </a:r>
            <a:r>
              <a:rPr lang="zh-TW" altLang="en-US" sz="1800" dirty="0"/>
              <a:t>當日變更密碼日期的</a:t>
            </a:r>
            <a:r>
              <a:rPr lang="en-US" altLang="zh-TW" sz="1800" dirty="0" err="1"/>
              <a:t>logback</a:t>
            </a:r>
            <a:r>
              <a:rPr lang="zh-TW" altLang="en-US" sz="1800" dirty="0"/>
              <a:t>檔，查詢員編，確認有該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			</a:t>
            </a:r>
            <a:r>
              <a:rPr lang="zh-TW" altLang="en-US" sz="1800" dirty="0"/>
              <a:t>使用者變更密碼的</a:t>
            </a:r>
            <a:r>
              <a:rPr lang="en-US" altLang="zh-TW" sz="1800" dirty="0"/>
              <a:t>log</a:t>
            </a:r>
            <a:r>
              <a:rPr lang="zh-TW" altLang="en-US" sz="1800" dirty="0"/>
              <a:t>且成功寫入</a:t>
            </a:r>
            <a:r>
              <a:rPr lang="en-US" altLang="zh-TW" sz="1800" dirty="0"/>
              <a:t>IDM</a:t>
            </a:r>
            <a:r>
              <a:rPr lang="zh-TW" altLang="en-US" sz="1800" dirty="0"/>
              <a:t>資料庫。</a:t>
            </a: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			</a:t>
            </a:r>
            <a:r>
              <a:rPr lang="zh-TW" altLang="en-US" sz="1800" dirty="0"/>
              <a:t>若查無該使用者變更</a:t>
            </a:r>
            <a:r>
              <a:rPr lang="en-US" altLang="zh-TW" sz="1800" dirty="0"/>
              <a:t>log:</a:t>
            </a:r>
          </a:p>
          <a:p>
            <a:pPr marL="0" indent="0">
              <a:buNone/>
            </a:pPr>
            <a:r>
              <a:rPr lang="en-US" altLang="zh-TW" sz="1800" dirty="0"/>
              <a:t>						1. </a:t>
            </a:r>
            <a:r>
              <a:rPr lang="zh-TW" altLang="en-US" sz="1800" dirty="0"/>
              <a:t>檢查每</a:t>
            </a:r>
            <a:r>
              <a:rPr lang="en-US" altLang="zh-TW" sz="1800" dirty="0"/>
              <a:t>1</a:t>
            </a:r>
            <a:r>
              <a:rPr lang="zh-TW" altLang="en-US" sz="1800" dirty="0"/>
              <a:t>台</a:t>
            </a:r>
            <a:r>
              <a:rPr lang="en-US" altLang="zh-TW" sz="1800" dirty="0"/>
              <a:t>AD</a:t>
            </a:r>
            <a:r>
              <a:rPr lang="zh-TW" altLang="en-US" sz="1800" dirty="0"/>
              <a:t>，在</a:t>
            </a:r>
            <a:r>
              <a:rPr lang="en-US" altLang="zh-TW" sz="1800" dirty="0"/>
              <a:t>AD</a:t>
            </a:r>
            <a:r>
              <a:rPr lang="zh-TW" altLang="en-US" sz="1800" dirty="0"/>
              <a:t>上直接進行密碼變更，看目錄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			    </a:t>
            </a:r>
            <a:r>
              <a:rPr lang="zh-TW" altLang="en-US" sz="1800" dirty="0"/>
              <a:t>下的</a:t>
            </a:r>
            <a:r>
              <a:rPr lang="en-US" altLang="zh-TW" sz="1800" dirty="0" err="1"/>
              <a:t>temp.db</a:t>
            </a:r>
            <a:r>
              <a:rPr lang="zh-TW" altLang="en-US" sz="1800" dirty="0"/>
              <a:t>檔是否有記錄，如果沒有表示密碼攔截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		                      </a:t>
            </a:r>
            <a:r>
              <a:rPr lang="zh-TW" altLang="en-US" sz="1800" dirty="0"/>
              <a:t>元件未正常安裝，請</a:t>
            </a:r>
            <a:r>
              <a:rPr lang="en-US" altLang="zh-TW" sz="1800" dirty="0"/>
              <a:t>uninstall</a:t>
            </a:r>
            <a:r>
              <a:rPr lang="zh-TW" altLang="en-US" sz="1800" dirty="0"/>
              <a:t>後重新</a:t>
            </a:r>
            <a:r>
              <a:rPr lang="en-US" altLang="zh-TW" sz="1800" dirty="0"/>
              <a:t>install</a:t>
            </a:r>
            <a:r>
              <a:rPr lang="zh-TW" altLang="en-US" sz="1800" dirty="0"/>
              <a:t>並重開機。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			2. </a:t>
            </a:r>
            <a:r>
              <a:rPr lang="zh-TW" altLang="en-US" sz="1800" dirty="0"/>
              <a:t>若</a:t>
            </a:r>
            <a:r>
              <a:rPr lang="en-US" altLang="zh-TW" sz="1800" dirty="0" err="1"/>
              <a:t>temp.db</a:t>
            </a:r>
            <a:r>
              <a:rPr lang="zh-TW" altLang="en-US" sz="1800" dirty="0"/>
              <a:t>有</a:t>
            </a:r>
            <a:r>
              <a:rPr lang="en-US" altLang="zh-TW" sz="1800" dirty="0"/>
              <a:t>log</a:t>
            </a:r>
            <a:r>
              <a:rPr lang="zh-TW" altLang="en-US" sz="1800" dirty="0"/>
              <a:t>，</a:t>
            </a:r>
            <a:r>
              <a:rPr lang="en-US" altLang="zh-TW" sz="1800" dirty="0" err="1"/>
              <a:t>logback</a:t>
            </a:r>
            <a:r>
              <a:rPr lang="zh-TW" altLang="en-US" sz="1800" dirty="0"/>
              <a:t>無，則確認</a:t>
            </a:r>
            <a:r>
              <a:rPr lang="en-US" altLang="zh-TW" sz="1800" dirty="0"/>
              <a:t>windows service</a:t>
            </a:r>
          </a:p>
          <a:p>
            <a:pPr marL="0" indent="0">
              <a:buNone/>
            </a:pPr>
            <a:r>
              <a:rPr lang="en-US" altLang="zh-TW" sz="1800" dirty="0"/>
              <a:t>	                                       			    </a:t>
            </a:r>
            <a:r>
              <a:rPr lang="zh-TW" altLang="en-US" sz="1800" dirty="0"/>
              <a:t>裡的</a:t>
            </a:r>
            <a:r>
              <a:rPr lang="en-US" altLang="zh-TW" sz="1800" dirty="0" err="1"/>
              <a:t>AdPwdSync</a:t>
            </a:r>
            <a:r>
              <a:rPr lang="zh-TW" altLang="en-US" sz="1800" dirty="0"/>
              <a:t>服務有正常啟動。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                            						</a:t>
            </a:r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9F2022A-B4E7-3474-0093-E5D1F1A21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26" y="1770358"/>
            <a:ext cx="4817941" cy="4524375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64E0E73F-C08E-EB17-28A2-A1BBC0B177FD}"/>
              </a:ext>
            </a:extLst>
          </p:cNvPr>
          <p:cNvSpPr/>
          <p:nvPr/>
        </p:nvSpPr>
        <p:spPr>
          <a:xfrm>
            <a:off x="5884545" y="3133725"/>
            <a:ext cx="5574030" cy="2362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243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28960-1C6F-E6BF-2BB5-2144FE58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2D1F448-BD22-F225-CA68-206BDF617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800" dirty="0"/>
              <a:t>(2)</a:t>
            </a:r>
            <a:r>
              <a:rPr lang="zh-TW" altLang="en-US" sz="1800" dirty="0"/>
              <a:t> 若</a:t>
            </a:r>
            <a:r>
              <a:rPr lang="en-US" altLang="zh-TW" sz="1800" dirty="0" err="1"/>
              <a:t>logback</a:t>
            </a:r>
            <a:r>
              <a:rPr lang="zh-TW" altLang="en-US" sz="1800" dirty="0"/>
              <a:t>有查到記錄，但寫入</a:t>
            </a:r>
            <a:r>
              <a:rPr lang="en-US" altLang="zh-TW" sz="1800" dirty="0" err="1"/>
              <a:t>db</a:t>
            </a:r>
            <a:r>
              <a:rPr lang="zh-TW" altLang="en-US" sz="1800" dirty="0"/>
              <a:t>失敗，到內網</a:t>
            </a:r>
            <a:r>
              <a:rPr lang="en-US" altLang="zh-TW" sz="1800" dirty="0"/>
              <a:t>IDM</a:t>
            </a:r>
            <a:r>
              <a:rPr lang="zh-TW" altLang="en-US" sz="1800" dirty="0"/>
              <a:t>主機執行 </a:t>
            </a:r>
            <a:r>
              <a:rPr lang="en-US" altLang="zh-TW" sz="1800" dirty="0" err="1"/>
              <a:t>sudo</a:t>
            </a:r>
            <a:r>
              <a:rPr lang="en-US" altLang="zh-TW" sz="1800" dirty="0"/>
              <a:t> </a:t>
            </a:r>
            <a:r>
              <a:rPr lang="en-US" altLang="zh-TW" sz="1800" dirty="0" err="1"/>
              <a:t>podman</a:t>
            </a:r>
            <a:r>
              <a:rPr lang="en-US" altLang="zh-TW" sz="1800" dirty="0"/>
              <a:t> </a:t>
            </a:r>
            <a:r>
              <a:rPr lang="en-US" altLang="zh-TW" sz="1800" dirty="0" err="1"/>
              <a:t>ps</a:t>
            </a:r>
            <a:r>
              <a:rPr lang="en-US" altLang="zh-TW" sz="1800" dirty="0"/>
              <a:t> -a</a:t>
            </a:r>
            <a:r>
              <a:rPr lang="zh-TW" altLang="en-US" sz="1800" dirty="0"/>
              <a:t> 確認服務有正常啟動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(3) </a:t>
            </a:r>
            <a:r>
              <a:rPr lang="zh-TW" altLang="en-US" sz="1800" dirty="0"/>
              <a:t>檢查使用者的密碼變更有同步到外網</a:t>
            </a:r>
            <a:r>
              <a:rPr lang="en-US" altLang="zh-TW" sz="1800" dirty="0"/>
              <a:t>IDM</a:t>
            </a:r>
            <a:r>
              <a:rPr lang="zh-TW" altLang="en-US" sz="1800" dirty="0"/>
              <a:t>資料庫 </a:t>
            </a:r>
            <a:r>
              <a:rPr lang="en-US" altLang="zh-TW" sz="1800" dirty="0"/>
              <a:t>– </a:t>
            </a:r>
            <a:r>
              <a:rPr lang="zh-TW" altLang="en-US" sz="1800" dirty="0"/>
              <a:t>開啟外網</a:t>
            </a:r>
            <a:r>
              <a:rPr lang="en-US" altLang="zh-TW" sz="1800" dirty="0" err="1"/>
              <a:t>Dbeaver</a:t>
            </a:r>
            <a:r>
              <a:rPr lang="zh-TW" altLang="en-US" sz="1800" dirty="0"/>
              <a:t>工具，雙點擊</a:t>
            </a:r>
            <a:r>
              <a:rPr lang="en-US" altLang="zh-TW" sz="1800" dirty="0" err="1">
                <a:solidFill>
                  <a:srgbClr val="FF0000"/>
                </a:solidFill>
              </a:rPr>
              <a:t>connector_space_ad_person_sync_details</a:t>
            </a:r>
            <a:r>
              <a:rPr lang="zh-TW" altLang="en-US" sz="1800" dirty="0"/>
              <a:t>資料表，查詢</a:t>
            </a:r>
            <a:r>
              <a:rPr lang="en-US" altLang="zh-TW" sz="1800" dirty="0" err="1"/>
              <a:t>cn</a:t>
            </a:r>
            <a:r>
              <a:rPr lang="zh-TW" altLang="en-US" sz="1800" dirty="0"/>
              <a:t>確認該帳號的</a:t>
            </a:r>
            <a:r>
              <a:rPr lang="en-US" altLang="zh-TW" sz="1800" dirty="0" err="1"/>
              <a:t>pwdlastset</a:t>
            </a:r>
            <a:r>
              <a:rPr lang="zh-TW" altLang="en-US" sz="1800" dirty="0"/>
              <a:t>欄位值是新的還是舊的</a:t>
            </a:r>
            <a:endParaRPr lang="en-US" altLang="zh-TW" sz="1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F7A9DF-C683-4950-C5FA-327C2E09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" y="2054906"/>
            <a:ext cx="10572750" cy="3514725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78D1B9F1-2AAA-6BCB-AABB-400620041B3E}"/>
              </a:ext>
            </a:extLst>
          </p:cNvPr>
          <p:cNvSpPr/>
          <p:nvPr/>
        </p:nvSpPr>
        <p:spPr>
          <a:xfrm>
            <a:off x="7689124" y="2355784"/>
            <a:ext cx="2786199" cy="9785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593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51A1-5942-7654-4E55-126CFCBE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6F3289-4DD7-E061-2C60-E99D86C36EF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(4) </a:t>
            </a:r>
            <a:r>
              <a:rPr lang="zh-TW" altLang="en-US" sz="1800" dirty="0"/>
              <a:t>如果內網密碼變更沒同步到外網</a:t>
            </a:r>
            <a:r>
              <a:rPr lang="en-US" altLang="zh-TW" sz="1800" dirty="0"/>
              <a:t>IDM</a:t>
            </a:r>
            <a:r>
              <a:rPr lang="zh-TW" altLang="en-US" sz="1800" dirty="0"/>
              <a:t>資料庫 </a:t>
            </a:r>
            <a:r>
              <a:rPr lang="en-US" altLang="zh-TW" sz="1800" dirty="0"/>
              <a:t>– </a:t>
            </a:r>
          </a:p>
          <a:p>
            <a:pPr marL="0" indent="0">
              <a:buNone/>
            </a:pPr>
            <a:r>
              <a:rPr lang="en-US" altLang="zh-TW" sz="1800" dirty="0"/>
              <a:t>	</a:t>
            </a:r>
            <a:r>
              <a:rPr lang="zh-TW" altLang="en-US" sz="1800" dirty="0"/>
              <a:t>查看</a:t>
            </a:r>
            <a:r>
              <a:rPr lang="en-US" altLang="zh-TW" sz="1800" dirty="0"/>
              <a:t>mail report</a:t>
            </a:r>
            <a:r>
              <a:rPr lang="zh-TW" altLang="en-US" sz="1800" dirty="0"/>
              <a:t>確認同步是否正常</a:t>
            </a:r>
            <a:r>
              <a:rPr lang="en-US" altLang="zh-TW" sz="1800" dirty="0"/>
              <a:t>: </a:t>
            </a:r>
          </a:p>
          <a:p>
            <a:pPr marL="0" indent="0">
              <a:buNone/>
            </a:pPr>
            <a:r>
              <a:rPr lang="en-US" altLang="zh-TW" sz="1800" dirty="0"/>
              <a:t>      				   </a:t>
            </a:r>
            <a:r>
              <a:rPr lang="zh-TW" altLang="en-US" sz="1800" dirty="0"/>
              <a:t>若外網超時狀態異常請開啟中介與外網</a:t>
            </a:r>
            <a:r>
              <a:rPr lang="en-US" altLang="zh-TW" sz="1800" dirty="0" err="1"/>
              <a:t>jenkins</a:t>
            </a:r>
            <a:r>
              <a:rPr lang="zh-TW" altLang="en-US" sz="1800" dirty="0"/>
              <a:t>，確認</a:t>
            </a:r>
            <a:r>
              <a:rPr lang="en-US" altLang="zh-TW" sz="1800" dirty="0"/>
              <a:t>jobs</a:t>
            </a:r>
            <a:r>
              <a:rPr lang="zh-TW" altLang="en-US" sz="1800" dirty="0"/>
              <a:t>都正常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			                     </a:t>
            </a:r>
            <a:r>
              <a:rPr lang="zh-TW" altLang="en-US" sz="1800" dirty="0"/>
              <a:t>也確認中介主機與內外網</a:t>
            </a:r>
            <a:r>
              <a:rPr lang="en-US" altLang="zh-TW" sz="1800" dirty="0"/>
              <a:t>IDM</a:t>
            </a:r>
            <a:r>
              <a:rPr lang="zh-TW" altLang="en-US" sz="1800" dirty="0"/>
              <a:t>主機的實體隔離交換正常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                                                                         (</a:t>
            </a:r>
            <a:r>
              <a:rPr lang="zh-TW" altLang="en-US" sz="1800" dirty="0"/>
              <a:t>若無</a:t>
            </a:r>
            <a:r>
              <a:rPr lang="en-US" altLang="zh-TW" sz="1800" dirty="0"/>
              <a:t>GUI</a:t>
            </a:r>
            <a:r>
              <a:rPr lang="zh-TW" altLang="en-US" sz="1800" dirty="0"/>
              <a:t>介面，執行 </a:t>
            </a:r>
            <a:r>
              <a:rPr lang="en-US" altLang="zh-TW" sz="1800" dirty="0" err="1"/>
              <a:t>sudo</a:t>
            </a:r>
            <a:r>
              <a:rPr lang="en-US" altLang="zh-TW" sz="1800" dirty="0"/>
              <a:t> </a:t>
            </a:r>
            <a:r>
              <a:rPr lang="en-US" altLang="zh-TW" sz="1800" dirty="0" err="1"/>
              <a:t>podman</a:t>
            </a:r>
            <a:r>
              <a:rPr lang="en-US" altLang="zh-TW" sz="1800" dirty="0"/>
              <a:t> </a:t>
            </a:r>
            <a:r>
              <a:rPr lang="en-US" altLang="zh-TW" sz="1800" dirty="0" err="1"/>
              <a:t>ps</a:t>
            </a:r>
            <a:r>
              <a:rPr lang="en-US" altLang="zh-TW" sz="1800" dirty="0"/>
              <a:t> -a </a:t>
            </a:r>
            <a:r>
              <a:rPr lang="zh-TW" altLang="en-US" sz="1800" dirty="0"/>
              <a:t>確認</a:t>
            </a:r>
            <a:r>
              <a:rPr lang="en-US" altLang="zh-TW" sz="1800" dirty="0"/>
              <a:t>3</a:t>
            </a:r>
            <a:r>
              <a:rPr lang="zh-TW" altLang="en-US" sz="1800" dirty="0"/>
              <a:t>個容器都正常執行</a:t>
            </a:r>
            <a:r>
              <a:rPr lang="en-US" altLang="zh-TW" sz="1800" dirty="0"/>
              <a:t>)</a:t>
            </a:r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09CBA40-A9D1-6378-527D-962D18A1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024"/>
            <a:ext cx="121920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38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9F10-17F9-0BA9-FBDE-080229DB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10423DE-15C4-C4A1-2840-7A6959C922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(5) </a:t>
            </a:r>
            <a:r>
              <a:rPr lang="zh-TW" altLang="en-US" sz="1800" dirty="0"/>
              <a:t>如果已同步到外網資料庫但外網</a:t>
            </a:r>
            <a:r>
              <a:rPr lang="en-US" altLang="zh-TW" sz="1800" dirty="0"/>
              <a:t>AD</a:t>
            </a:r>
            <a:r>
              <a:rPr lang="zh-TW" altLang="en-US" sz="1800" dirty="0"/>
              <a:t>密碼沒變更 </a:t>
            </a:r>
            <a:r>
              <a:rPr lang="en-US" altLang="zh-TW" sz="1800" dirty="0"/>
              <a:t>– </a:t>
            </a:r>
            <a:r>
              <a:rPr lang="zh-TW" altLang="en-US" sz="1800" dirty="0"/>
              <a:t>打開外網</a:t>
            </a:r>
            <a:r>
              <a:rPr lang="en-US" altLang="zh-TW" sz="1800" dirty="0"/>
              <a:t>Jenkins</a:t>
            </a:r>
            <a:r>
              <a:rPr lang="zh-TW" altLang="en-US" sz="1800" dirty="0"/>
              <a:t>點擊</a:t>
            </a:r>
            <a:r>
              <a:rPr lang="en-US" altLang="zh-TW" sz="1800" dirty="0"/>
              <a:t>”</a:t>
            </a:r>
            <a:r>
              <a:rPr lang="zh-TW" altLang="en-US" sz="1800" dirty="0"/>
              <a:t>比對內外網</a:t>
            </a:r>
            <a:r>
              <a:rPr lang="en-US" altLang="zh-TW" sz="1800" dirty="0"/>
              <a:t>AD</a:t>
            </a:r>
            <a:r>
              <a:rPr lang="zh-TW" altLang="en-US" sz="1800" dirty="0"/>
              <a:t>密碼差異並同步至外</a:t>
            </a:r>
            <a:r>
              <a:rPr lang="en-US" altLang="zh-TW" sz="1800" dirty="0"/>
              <a:t>					           </a:t>
            </a:r>
            <a:r>
              <a:rPr lang="zh-TW" altLang="en-US" sz="1800" dirty="0"/>
              <a:t>網</a:t>
            </a:r>
            <a:r>
              <a:rPr lang="en-US" altLang="zh-TW" sz="1800" dirty="0"/>
              <a:t>”</a:t>
            </a:r>
            <a:r>
              <a:rPr lang="zh-TW" altLang="en-US" sz="1800" dirty="0"/>
              <a:t>的</a:t>
            </a:r>
            <a:r>
              <a:rPr lang="en-US" altLang="zh-TW" sz="1800" dirty="0"/>
              <a:t>job</a:t>
            </a:r>
            <a:r>
              <a:rPr lang="zh-TW" altLang="en-US" sz="1800" dirty="0"/>
              <a:t>，如下圖步驟下載最新</a:t>
            </a:r>
            <a:r>
              <a:rPr lang="en-US" altLang="zh-TW" sz="1800" dirty="0"/>
              <a:t>job</a:t>
            </a:r>
            <a:r>
              <a:rPr lang="zh-TW" altLang="en-US" sz="1800" dirty="0"/>
              <a:t>的</a:t>
            </a:r>
            <a:r>
              <a:rPr lang="en-US" altLang="zh-TW" sz="1800" dirty="0"/>
              <a:t>log</a:t>
            </a:r>
            <a:r>
              <a:rPr lang="zh-TW" altLang="en-US" sz="1800" dirty="0"/>
              <a:t>並寄給</a:t>
            </a:r>
            <a:r>
              <a:rPr lang="en-US" altLang="zh-TW" sz="1800" dirty="0"/>
              <a:t>IDM SA</a:t>
            </a:r>
            <a:r>
              <a:rPr lang="zh-TW" altLang="en-US" sz="1800" dirty="0"/>
              <a:t>判斷</a:t>
            </a:r>
            <a:r>
              <a:rPr lang="en-US" altLang="zh-TW" sz="1800" dirty="0"/>
              <a:t>					           </a:t>
            </a:r>
            <a:r>
              <a:rPr lang="zh-TW" altLang="en-US" sz="1800" dirty="0"/>
              <a:t>問題原因。</a:t>
            </a: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3CBA826-4CF7-389F-0B07-53D31ACCB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98" y="1815714"/>
            <a:ext cx="4507530" cy="260324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0512F4D-2EC7-C8BC-53AB-81488E9BC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29" y="1815714"/>
            <a:ext cx="2507796" cy="42517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3456E7-BFAA-AFE1-59E2-DF40A7EF7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560" y="1815714"/>
            <a:ext cx="2364998" cy="296026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8603699-E744-0AB5-61E2-191270BC1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808" y="4812370"/>
            <a:ext cx="5522192" cy="2045630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3700A55-C6B2-BAA0-9629-A1D79A4E945A}"/>
              </a:ext>
            </a:extLst>
          </p:cNvPr>
          <p:cNvSpPr/>
          <p:nvPr/>
        </p:nvSpPr>
        <p:spPr>
          <a:xfrm>
            <a:off x="1857163" y="3117334"/>
            <a:ext cx="1921566" cy="3834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2967EAE-0AC6-036D-698C-8B52240B3543}"/>
              </a:ext>
            </a:extLst>
          </p:cNvPr>
          <p:cNvSpPr/>
          <p:nvPr/>
        </p:nvSpPr>
        <p:spPr>
          <a:xfrm>
            <a:off x="3781085" y="5451694"/>
            <a:ext cx="1593348" cy="4359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592F3FC-6B97-DB11-83DF-AC94F17B22FC}"/>
              </a:ext>
            </a:extLst>
          </p:cNvPr>
          <p:cNvSpPr/>
          <p:nvPr/>
        </p:nvSpPr>
        <p:spPr>
          <a:xfrm>
            <a:off x="6096000" y="3170535"/>
            <a:ext cx="1573763" cy="3834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832ABE2-5086-7946-C0F2-2EA7E744DAB9}"/>
              </a:ext>
            </a:extLst>
          </p:cNvPr>
          <p:cNvSpPr/>
          <p:nvPr/>
        </p:nvSpPr>
        <p:spPr>
          <a:xfrm>
            <a:off x="11303810" y="4812370"/>
            <a:ext cx="870688" cy="3941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E458623-2CF4-B281-3BD4-58BA1366227A}"/>
              </a:ext>
            </a:extLst>
          </p:cNvPr>
          <p:cNvCxnSpPr>
            <a:cxnSpLocks/>
          </p:cNvCxnSpPr>
          <p:nvPr/>
        </p:nvCxnSpPr>
        <p:spPr>
          <a:xfrm>
            <a:off x="3890865" y="4049486"/>
            <a:ext cx="941355" cy="13230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E1950066-B340-7CB6-8B2F-0BB8F38BFA3F}"/>
              </a:ext>
            </a:extLst>
          </p:cNvPr>
          <p:cNvCxnSpPr>
            <a:cxnSpLocks/>
          </p:cNvCxnSpPr>
          <p:nvPr/>
        </p:nvCxnSpPr>
        <p:spPr>
          <a:xfrm flipV="1">
            <a:off x="4992967" y="3554026"/>
            <a:ext cx="1011593" cy="18502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682F2B5-AA9D-B6BE-200A-C411B3EB44DB}"/>
              </a:ext>
            </a:extLst>
          </p:cNvPr>
          <p:cNvCxnSpPr>
            <a:cxnSpLocks/>
          </p:cNvCxnSpPr>
          <p:nvPr/>
        </p:nvCxnSpPr>
        <p:spPr>
          <a:xfrm>
            <a:off x="7791450" y="3554026"/>
            <a:ext cx="3390667" cy="125656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237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8699-E083-234F-0FED-C312C291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2CE370-9440-4AD2-463E-FB4980ACF1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五</a:t>
            </a:r>
            <a:r>
              <a:rPr lang="en-US" altLang="zh-TW" dirty="0"/>
              <a:t>) </a:t>
            </a:r>
            <a:r>
              <a:rPr lang="zh-TW" altLang="en-US" dirty="0"/>
              <a:t>案例分享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dirty="0"/>
              <a:t>(1) </a:t>
            </a:r>
            <a:r>
              <a:rPr lang="zh-TW" altLang="en-US" sz="1800" dirty="0"/>
              <a:t>今日密碼變更筆數有值，但內網</a:t>
            </a:r>
            <a:r>
              <a:rPr lang="en-US" altLang="zh-TW" sz="1800" dirty="0"/>
              <a:t>Job</a:t>
            </a:r>
            <a:r>
              <a:rPr lang="zh-TW" altLang="en-US" sz="1800" dirty="0"/>
              <a:t>最後運行狀態皆顯示異常 </a:t>
            </a:r>
            <a:r>
              <a:rPr lang="en-US" altLang="zh-TW" sz="1800" dirty="0"/>
              <a:t>– </a:t>
            </a:r>
            <a:r>
              <a:rPr lang="zh-TW" altLang="en-US" sz="1800" dirty="0">
                <a:solidFill>
                  <a:srgbClr val="FF0000"/>
                </a:solidFill>
              </a:rPr>
              <a:t>密碼變更有值表示內網密碼攔截、內外網交換、外網密碼攔截皆正常，經查為內網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本機防火牆異動，導致內網</a:t>
            </a:r>
            <a:r>
              <a:rPr lang="en-US" altLang="zh-TW" sz="1800" dirty="0">
                <a:solidFill>
                  <a:srgbClr val="FF0000"/>
                </a:solidFill>
              </a:rPr>
              <a:t>IDM</a:t>
            </a:r>
            <a:r>
              <a:rPr lang="zh-TW" altLang="en-US" sz="1800" dirty="0">
                <a:solidFill>
                  <a:srgbClr val="FF0000"/>
                </a:solidFill>
              </a:rPr>
              <a:t>程式連不到內網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F133891-568D-FB36-53F2-10C2ACFDD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0058"/>
            <a:ext cx="12192000" cy="362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08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19C01-BCA6-3D8F-95D3-7D56A50B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886129-D755-F79B-20E1-01F80667D8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(2) </a:t>
            </a:r>
            <a:r>
              <a:rPr lang="zh-TW" altLang="en-US" sz="1800" dirty="0"/>
              <a:t>今日密碼變更筆數都有值，</a:t>
            </a:r>
            <a:r>
              <a:rPr lang="en-US" altLang="zh-TW" sz="1800" dirty="0"/>
              <a:t>mail report</a:t>
            </a:r>
            <a:r>
              <a:rPr lang="zh-TW" altLang="en-US" sz="1800" dirty="0"/>
              <a:t>也都無異常，但陸續有使用者反應外網密碼沒同步，但卻不是所有人都同步失敗 </a:t>
            </a:r>
            <a:r>
              <a:rPr lang="en-US" altLang="zh-TW" sz="1800" dirty="0"/>
              <a:t>– </a:t>
            </a:r>
            <a:r>
              <a:rPr lang="zh-TW" altLang="en-US" sz="1800" dirty="0">
                <a:solidFill>
                  <a:srgbClr val="FF0000"/>
                </a:solidFill>
              </a:rPr>
              <a:t>部份使用者密碼同步失敗大機率為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上的密碼攔截沒正常運作，經查為內網其中一台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上的</a:t>
            </a:r>
            <a:r>
              <a:rPr lang="en-US" altLang="zh-TW" sz="1800" dirty="0" err="1">
                <a:solidFill>
                  <a:srgbClr val="FF0000"/>
                </a:solidFill>
              </a:rPr>
              <a:t>AdPwdSync</a:t>
            </a:r>
            <a:r>
              <a:rPr lang="zh-TW" altLang="en-US" sz="1800" dirty="0">
                <a:solidFill>
                  <a:srgbClr val="FF0000"/>
                </a:solidFill>
              </a:rPr>
              <a:t>服務異常中止</a:t>
            </a:r>
            <a:r>
              <a:rPr lang="en-US" altLang="zh-TW" sz="1800" dirty="0">
                <a:solidFill>
                  <a:srgbClr val="FF0000"/>
                </a:solidFill>
              </a:rPr>
              <a:t>(</a:t>
            </a:r>
            <a:r>
              <a:rPr lang="zh-TW" altLang="en-US" sz="1800" dirty="0">
                <a:solidFill>
                  <a:srgbClr val="FF0000"/>
                </a:solidFill>
              </a:rPr>
              <a:t>若服務都正常可檢查各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上的</a:t>
            </a:r>
            <a:r>
              <a:rPr lang="en-US" altLang="zh-TW" sz="1800" dirty="0" err="1">
                <a:solidFill>
                  <a:srgbClr val="FF0000"/>
                </a:solidFill>
              </a:rPr>
              <a:t>logback</a:t>
            </a:r>
            <a:r>
              <a:rPr lang="zh-TW" altLang="en-US" sz="1800" dirty="0">
                <a:solidFill>
                  <a:srgbClr val="FF0000"/>
                </a:solidFill>
              </a:rPr>
              <a:t>檔是否都有密碼變更成功記錄</a:t>
            </a:r>
            <a:r>
              <a:rPr lang="en-US" altLang="zh-TW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3FB9CF5-9B5A-1D16-AD08-331B2049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83" y="1881051"/>
            <a:ext cx="76390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6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D5C19-1116-0E7A-CC22-F55D0CDC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9F871EC-051D-3EE8-05E1-4BAC30A010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(3) </a:t>
            </a:r>
            <a:r>
              <a:rPr lang="zh-TW" altLang="en-US" sz="1800" dirty="0"/>
              <a:t>今日密碼變更筆數都有值，</a:t>
            </a:r>
            <a:r>
              <a:rPr lang="en-US" altLang="zh-TW" sz="1800" dirty="0"/>
              <a:t>mail report</a:t>
            </a:r>
            <a:r>
              <a:rPr lang="zh-TW" altLang="en-US" sz="1800" dirty="0"/>
              <a:t>也都無異常，但</a:t>
            </a:r>
            <a:r>
              <a:rPr lang="en-US" altLang="zh-TW" sz="1800" dirty="0"/>
              <a:t>YBD</a:t>
            </a:r>
            <a:r>
              <a:rPr lang="zh-TW" altLang="en-US" sz="1800" dirty="0"/>
              <a:t>新增帳號，內網</a:t>
            </a:r>
            <a:r>
              <a:rPr lang="en-US" altLang="zh-TW" sz="1800" dirty="0"/>
              <a:t>AD</a:t>
            </a:r>
            <a:r>
              <a:rPr lang="zh-TW" altLang="en-US" sz="1800" dirty="0"/>
              <a:t>有成功建出此帳號，外網</a:t>
            </a:r>
            <a:r>
              <a:rPr lang="en-US" altLang="zh-TW" sz="1800" dirty="0"/>
              <a:t>AD</a:t>
            </a:r>
            <a:r>
              <a:rPr lang="zh-TW" altLang="en-US" sz="1800" dirty="0"/>
              <a:t>卻無同步建出此帳號 </a:t>
            </a:r>
            <a:r>
              <a:rPr lang="en-US" altLang="zh-TW" sz="1800" dirty="0"/>
              <a:t>– </a:t>
            </a:r>
            <a:r>
              <a:rPr lang="en-US" altLang="zh-TW" sz="1800" dirty="0">
                <a:solidFill>
                  <a:srgbClr val="FF0000"/>
                </a:solidFill>
              </a:rPr>
              <a:t>mail report</a:t>
            </a:r>
            <a:r>
              <a:rPr lang="zh-TW" altLang="en-US" sz="1800" dirty="0">
                <a:solidFill>
                  <a:srgbClr val="FF0000"/>
                </a:solidFill>
              </a:rPr>
              <a:t>的外網事件表格與</a:t>
            </a:r>
            <a:r>
              <a:rPr lang="en-US" altLang="zh-TW" sz="1800" dirty="0">
                <a:solidFill>
                  <a:srgbClr val="FF0000"/>
                </a:solidFill>
              </a:rPr>
              <a:t>Jenkins job</a:t>
            </a:r>
            <a:r>
              <a:rPr lang="zh-TW" altLang="en-US" sz="1800" dirty="0">
                <a:solidFill>
                  <a:srgbClr val="FF0000"/>
                </a:solidFill>
              </a:rPr>
              <a:t>都有出現下列</a:t>
            </a:r>
            <a:r>
              <a:rPr lang="en-US" altLang="zh-TW" sz="1800" dirty="0">
                <a:solidFill>
                  <a:srgbClr val="FF0000"/>
                </a:solidFill>
              </a:rPr>
              <a:t>exception</a:t>
            </a:r>
            <a:r>
              <a:rPr lang="zh-TW" altLang="en-US" sz="1800" dirty="0">
                <a:solidFill>
                  <a:srgbClr val="FF0000"/>
                </a:solidFill>
              </a:rPr>
              <a:t>，經查為外網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被瑞思軟體套用密碼</a:t>
            </a:r>
            <a:r>
              <a:rPr lang="en-US" altLang="zh-TW" sz="1800" dirty="0">
                <a:solidFill>
                  <a:srgbClr val="FF0000"/>
                </a:solidFill>
              </a:rPr>
              <a:t>12</a:t>
            </a:r>
            <a:r>
              <a:rPr lang="zh-TW" altLang="en-US" sz="1800" dirty="0">
                <a:solidFill>
                  <a:srgbClr val="FF0000"/>
                </a:solidFill>
              </a:rPr>
              <a:t>碼的規則，導致外網</a:t>
            </a:r>
            <a:r>
              <a:rPr lang="en-US" altLang="zh-TW" sz="1800" dirty="0">
                <a:solidFill>
                  <a:srgbClr val="FF0000"/>
                </a:solidFill>
              </a:rPr>
              <a:t>IDM</a:t>
            </a:r>
            <a:r>
              <a:rPr lang="zh-TW" altLang="en-US" sz="1800" dirty="0">
                <a:solidFill>
                  <a:srgbClr val="FF0000"/>
                </a:solidFill>
              </a:rPr>
              <a:t>要以密碼</a:t>
            </a:r>
            <a:r>
              <a:rPr lang="en-US" altLang="zh-TW" sz="1800" dirty="0">
                <a:solidFill>
                  <a:srgbClr val="FF0000"/>
                </a:solidFill>
              </a:rPr>
              <a:t>8</a:t>
            </a:r>
            <a:r>
              <a:rPr lang="zh-TW" altLang="en-US" sz="1800" dirty="0">
                <a:solidFill>
                  <a:srgbClr val="FF0000"/>
                </a:solidFill>
              </a:rPr>
              <a:t>碼去建立使用者時建立失敗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08433C9-01B9-F83D-4BED-C284ACDCD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3549"/>
            <a:ext cx="12192000" cy="313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86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B114-F169-4D40-5914-3F2CE7CA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9253F5F-733A-0864-87EC-10A25FACF4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(4) </a:t>
            </a:r>
            <a:r>
              <a:rPr lang="zh-TW" altLang="en-US" sz="1800" dirty="0"/>
              <a:t>今日密碼變更筆數為 </a:t>
            </a:r>
            <a:r>
              <a:rPr lang="en-US" altLang="zh-TW" sz="1800" dirty="0"/>
              <a:t>0 </a:t>
            </a:r>
            <a:r>
              <a:rPr lang="zh-TW" altLang="en-US" sz="1800" dirty="0"/>
              <a:t>，外網</a:t>
            </a:r>
            <a:r>
              <a:rPr lang="en-US" altLang="zh-TW" sz="1800" dirty="0"/>
              <a:t>job</a:t>
            </a:r>
            <a:r>
              <a:rPr lang="zh-TW" altLang="en-US" sz="1800" dirty="0"/>
              <a:t>超時狀態皆顯示異常 </a:t>
            </a:r>
            <a:r>
              <a:rPr lang="en-US" altLang="zh-TW" sz="1800" dirty="0"/>
              <a:t>– </a:t>
            </a:r>
            <a:r>
              <a:rPr lang="zh-TW" altLang="en-US" sz="1800" dirty="0">
                <a:solidFill>
                  <a:srgbClr val="FF0000"/>
                </a:solidFill>
              </a:rPr>
              <a:t>外網</a:t>
            </a:r>
            <a:r>
              <a:rPr lang="en-US" altLang="zh-TW" sz="1800" dirty="0">
                <a:solidFill>
                  <a:srgbClr val="FF0000"/>
                </a:solidFill>
              </a:rPr>
              <a:t>job</a:t>
            </a:r>
            <a:r>
              <a:rPr lang="zh-TW" altLang="en-US" sz="1800" dirty="0">
                <a:solidFill>
                  <a:srgbClr val="FF0000"/>
                </a:solidFill>
              </a:rPr>
              <a:t>最後運狀態正常，但超時狀態皆異常，表示</a:t>
            </a:r>
            <a:r>
              <a:rPr lang="en-US" altLang="zh-TW" sz="1800" dirty="0">
                <a:solidFill>
                  <a:srgbClr val="FF0000"/>
                </a:solidFill>
              </a:rPr>
              <a:t>job</a:t>
            </a:r>
            <a:r>
              <a:rPr lang="zh-TW" altLang="en-US" sz="1800" dirty="0">
                <a:solidFill>
                  <a:srgbClr val="FF0000"/>
                </a:solidFill>
              </a:rPr>
              <a:t>有正常執行，但外網資料傳不回內網，極大機率為中介實體隔離交換有問題，經查為中介路由異動導致中介實體隔離</a:t>
            </a:r>
            <a:r>
              <a:rPr lang="zh-TW" altLang="en-US" sz="1800">
                <a:solidFill>
                  <a:srgbClr val="FF0000"/>
                </a:solidFill>
              </a:rPr>
              <a:t>交換不通</a:t>
            </a: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5" name="圖片 4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56091E12-8516-6846-6CE5-0469D9188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5768"/>
            <a:ext cx="12192000" cy="406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02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B06F-1701-B6DE-DA22-93622854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D878FA3-EC46-91DD-5C53-8E42DE6EEA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六</a:t>
            </a:r>
            <a:r>
              <a:rPr lang="en-US" altLang="zh-TW" dirty="0"/>
              <a:t>) Report</a:t>
            </a:r>
          </a:p>
          <a:p>
            <a:pPr marL="0" indent="0">
              <a:buNone/>
            </a:pPr>
            <a:r>
              <a:rPr lang="en-US" altLang="zh-TW" sz="1800" dirty="0"/>
              <a:t>(1) SMTP </a:t>
            </a:r>
            <a:r>
              <a:rPr lang="zh-TW" altLang="en-US" sz="1800" dirty="0"/>
              <a:t>設定 </a:t>
            </a:r>
            <a:r>
              <a:rPr lang="en-US" altLang="zh-TW" sz="1800" dirty="0"/>
              <a:t>– </a:t>
            </a:r>
            <a:r>
              <a:rPr lang="zh-TW" altLang="en-US" sz="1800" dirty="0"/>
              <a:t>資訊主頁 </a:t>
            </a:r>
            <a:r>
              <a:rPr lang="en-US" altLang="zh-TW" sz="1800" dirty="0"/>
              <a:t>-&gt; </a:t>
            </a:r>
            <a:r>
              <a:rPr lang="zh-TW" altLang="en-US" sz="1800" dirty="0"/>
              <a:t>管理</a:t>
            </a:r>
            <a:r>
              <a:rPr lang="en-US" altLang="zh-TW" sz="1800" dirty="0"/>
              <a:t>Jenkins -&gt; System : </a:t>
            </a:r>
            <a:r>
              <a:rPr lang="zh-TW" altLang="en-US" sz="1800" dirty="0"/>
              <a:t>往下找到 </a:t>
            </a:r>
            <a:r>
              <a:rPr lang="en-US" altLang="zh-TW" sz="1800" dirty="0"/>
              <a:t>SMTP server </a:t>
            </a:r>
            <a:r>
              <a:rPr lang="zh-TW" altLang="en-US" sz="1800" dirty="0"/>
              <a:t>區塊，變更收儲存設定即可。</a:t>
            </a:r>
            <a:endParaRPr lang="en-US" altLang="zh-TW" sz="1800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F0B5A0-EE87-2C03-155A-E94F3BE2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26" y="1921735"/>
            <a:ext cx="4676503" cy="406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558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D34D-BEC4-6E95-69DD-D610F0F9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9B26DAD-D38D-E073-EB3C-61B4F5B7FC7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(2) </a:t>
            </a:r>
            <a:r>
              <a:rPr lang="zh-TW" altLang="en-US" sz="1800" dirty="0"/>
              <a:t>變更收件者 </a:t>
            </a:r>
            <a:r>
              <a:rPr lang="en-US" altLang="zh-TW" sz="1800" dirty="0"/>
              <a:t>– </a:t>
            </a:r>
            <a:r>
              <a:rPr lang="zh-TW" altLang="en-US" sz="1800" dirty="0"/>
              <a:t>資訊主頁 </a:t>
            </a:r>
            <a:r>
              <a:rPr lang="en-US" altLang="zh-TW" sz="1800" dirty="0"/>
              <a:t>-&gt; </a:t>
            </a:r>
            <a:r>
              <a:rPr lang="zh-TW" altLang="en-US" sz="1800" dirty="0"/>
              <a:t>系統檢測 </a:t>
            </a:r>
            <a:r>
              <a:rPr lang="en-US" altLang="zh-TW" sz="1800" dirty="0"/>
              <a:t>-&gt; </a:t>
            </a:r>
            <a:r>
              <a:rPr lang="zh-TW" altLang="en-US" sz="1800" dirty="0"/>
              <a:t>組態 </a:t>
            </a:r>
            <a:r>
              <a:rPr lang="en-US" altLang="zh-TW" sz="1800" dirty="0"/>
              <a:t>: </a:t>
            </a:r>
            <a:r>
              <a:rPr lang="zh-TW" altLang="en-US" sz="1800" dirty="0"/>
              <a:t>往下找到 </a:t>
            </a:r>
            <a:r>
              <a:rPr lang="en-US" altLang="zh-TW" sz="1800" dirty="0"/>
              <a:t>Receiver </a:t>
            </a:r>
            <a:r>
              <a:rPr lang="zh-TW" altLang="en-US" sz="1800" dirty="0"/>
              <a:t>區塊變更後儲存即可。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(3) Mail</a:t>
            </a:r>
            <a:r>
              <a:rPr lang="zh-TW" altLang="en-US" sz="1800" dirty="0">
                <a:solidFill>
                  <a:srgbClr val="FF0000"/>
                </a:solidFill>
              </a:rPr>
              <a:t>發送異常 </a:t>
            </a:r>
            <a:r>
              <a:rPr lang="en-US" altLang="zh-TW" sz="1800" dirty="0">
                <a:solidFill>
                  <a:srgbClr val="FF0000"/>
                </a:solidFill>
              </a:rPr>
              <a:t>– </a:t>
            </a:r>
            <a:r>
              <a:rPr lang="zh-TW" altLang="en-US" sz="1800" dirty="0">
                <a:solidFill>
                  <a:srgbClr val="FF0000"/>
                </a:solidFill>
              </a:rPr>
              <a:t>資訊主頁 </a:t>
            </a:r>
            <a:r>
              <a:rPr lang="en-US" altLang="zh-TW" sz="1800" dirty="0">
                <a:solidFill>
                  <a:srgbClr val="FF0000"/>
                </a:solidFill>
              </a:rPr>
              <a:t>-&gt; </a:t>
            </a:r>
            <a:r>
              <a:rPr lang="zh-TW" altLang="en-US" sz="1800" dirty="0">
                <a:solidFill>
                  <a:srgbClr val="FF0000"/>
                </a:solidFill>
              </a:rPr>
              <a:t>系統檢測</a:t>
            </a:r>
            <a:r>
              <a:rPr lang="en-US" altLang="zh-TW" sz="1800" dirty="0">
                <a:solidFill>
                  <a:srgbClr val="FF0000"/>
                </a:solidFill>
              </a:rPr>
              <a:t>: </a:t>
            </a:r>
            <a:r>
              <a:rPr lang="zh-TW" altLang="en-US" sz="1800" dirty="0">
                <a:solidFill>
                  <a:srgbClr val="FF0000"/>
                </a:solidFill>
              </a:rPr>
              <a:t>左下找最新序號的</a:t>
            </a:r>
            <a:r>
              <a:rPr lang="en-US" altLang="zh-TW" sz="1800" dirty="0">
                <a:solidFill>
                  <a:srgbClr val="FF0000"/>
                </a:solidFill>
              </a:rPr>
              <a:t>job</a:t>
            </a:r>
            <a:r>
              <a:rPr lang="zh-TW" altLang="en-US" sz="1800" dirty="0">
                <a:solidFill>
                  <a:srgbClr val="FF0000"/>
                </a:solidFill>
              </a:rPr>
              <a:t>，進入查看主控台輸出，看</a:t>
            </a:r>
            <a:r>
              <a:rPr lang="en-US" altLang="zh-TW" sz="1800" dirty="0">
                <a:solidFill>
                  <a:srgbClr val="FF0000"/>
                </a:solidFill>
              </a:rPr>
              <a:t>log</a:t>
            </a:r>
            <a:r>
              <a:rPr lang="zh-TW" altLang="en-US" sz="1800" dirty="0">
                <a:solidFill>
                  <a:srgbClr val="FF0000"/>
                </a:solidFill>
              </a:rPr>
              <a:t>的最後面會有</a:t>
            </a:r>
            <a:r>
              <a:rPr lang="en-US" altLang="zh-TW" sz="1800" dirty="0">
                <a:solidFill>
                  <a:srgbClr val="FF0000"/>
                </a:solidFill>
              </a:rPr>
              <a:t>smtp </a:t>
            </a:r>
            <a:r>
              <a:rPr lang="zh-TW" altLang="en-US" sz="1800" dirty="0">
                <a:solidFill>
                  <a:srgbClr val="FF0000"/>
                </a:solidFill>
              </a:rPr>
              <a:t>連線的異常</a:t>
            </a:r>
            <a:r>
              <a:rPr lang="en-US" altLang="zh-TW" sz="1800" dirty="0">
                <a:solidFill>
                  <a:srgbClr val="FF0000"/>
                </a:solidFill>
              </a:rPr>
              <a:t>log</a:t>
            </a:r>
            <a:r>
              <a:rPr lang="zh-TW" altLang="en-US" sz="1800" dirty="0">
                <a:solidFill>
                  <a:srgbClr val="FF0000"/>
                </a:solidFill>
              </a:rPr>
              <a:t>。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685F70-C415-8560-C4CF-5DE992103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26" y="2017170"/>
            <a:ext cx="3283335" cy="35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8DFC1FB-59D5-AD2A-0BBF-34A700CEB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851" y="2096771"/>
            <a:ext cx="5098830" cy="346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BE66CAE0-D2B9-0C50-4226-9E3874CFE67F}"/>
              </a:ext>
            </a:extLst>
          </p:cNvPr>
          <p:cNvSpPr/>
          <p:nvPr/>
        </p:nvSpPr>
        <p:spPr>
          <a:xfrm>
            <a:off x="635726" y="3654701"/>
            <a:ext cx="905691" cy="27286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085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5BCC-4F8C-5A34-39CE-EF7B192C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9AD6AA-C849-E4F0-EB6F-E5D0059AE8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七</a:t>
            </a:r>
            <a:r>
              <a:rPr lang="en-US" altLang="zh-TW" dirty="0"/>
              <a:t>) AD</a:t>
            </a:r>
            <a:r>
              <a:rPr lang="zh-TW" altLang="en-US" dirty="0"/>
              <a:t>還原時作業</a:t>
            </a:r>
            <a:endParaRPr lang="en-US" altLang="zh-TW" dirty="0"/>
          </a:p>
          <a:p>
            <a:pPr marL="342900" indent="-342900">
              <a:buAutoNum type="arabicParenBoth"/>
            </a:pPr>
            <a:r>
              <a:rPr lang="zh-TW" altLang="en-US" sz="1800" dirty="0"/>
              <a:t>連進外網</a:t>
            </a:r>
            <a:r>
              <a:rPr lang="en-US" altLang="zh-TW" sz="1800" dirty="0"/>
              <a:t>Jenkins </a:t>
            </a:r>
            <a:r>
              <a:rPr lang="en-US" altLang="zh-TW" sz="1800" dirty="0">
                <a:hlinkClick r:id="rId2"/>
              </a:rPr>
              <a:t>http://localhost:8080</a:t>
            </a:r>
            <a:r>
              <a:rPr lang="en-US" altLang="zh-TW" sz="1800" dirty="0"/>
              <a:t> (</a:t>
            </a:r>
            <a:r>
              <a:rPr lang="zh-TW" altLang="en-US" sz="1800" dirty="0"/>
              <a:t>中心麻煩由</a:t>
            </a:r>
            <a:r>
              <a:rPr lang="en-US" altLang="zh-TW" sz="1800" dirty="0"/>
              <a:t>XFS</a:t>
            </a:r>
            <a:r>
              <a:rPr lang="zh-TW" altLang="en-US" sz="1800" dirty="0"/>
              <a:t>的</a:t>
            </a:r>
            <a:r>
              <a:rPr lang="en-US" altLang="zh-TW" sz="1800" dirty="0"/>
              <a:t>IDM</a:t>
            </a:r>
            <a:r>
              <a:rPr lang="zh-TW" altLang="en-US" sz="1800" dirty="0"/>
              <a:t>跳板機開瀏覽器去連</a:t>
            </a:r>
            <a:r>
              <a:rPr lang="en-US" altLang="zh-TW" sz="1800" dirty="0"/>
              <a:t>)  </a:t>
            </a:r>
            <a:r>
              <a:rPr lang="zh-TW" altLang="en-US" sz="1800" dirty="0"/>
              <a:t>帳密</a:t>
            </a:r>
            <a:r>
              <a:rPr lang="en-US" altLang="zh-TW" sz="1800" dirty="0"/>
              <a:t>: admin / 1qaz@WSX </a:t>
            </a:r>
          </a:p>
          <a:p>
            <a:pPr marL="0" indent="0">
              <a:buNone/>
            </a:pPr>
            <a:r>
              <a:rPr lang="zh-TW" altLang="en-US" sz="1800" dirty="0"/>
              <a:t>關閉下方紅框處的三個</a:t>
            </a:r>
            <a:r>
              <a:rPr lang="en-US" altLang="zh-TW" sz="1800" dirty="0"/>
              <a:t>job : </a:t>
            </a:r>
            <a:r>
              <a:rPr lang="zh-TW" altLang="en-US" sz="1800" dirty="0"/>
              <a:t>點擊</a:t>
            </a:r>
            <a:r>
              <a:rPr lang="en-US" altLang="zh-TW" sz="1800" dirty="0"/>
              <a:t>job</a:t>
            </a:r>
            <a:r>
              <a:rPr lang="zh-TW" altLang="en-US" sz="1800" dirty="0"/>
              <a:t>名稱 </a:t>
            </a:r>
            <a:r>
              <a:rPr lang="en-US" altLang="zh-TW" sz="1800" dirty="0">
                <a:sym typeface="Wingdings" panose="05000000000000000000" pitchFamily="2" charset="2"/>
              </a:rPr>
              <a:t> </a:t>
            </a:r>
            <a:r>
              <a:rPr lang="zh-TW" altLang="en-US" sz="1800" dirty="0">
                <a:sym typeface="Wingdings" panose="05000000000000000000" pitchFamily="2" charset="2"/>
              </a:rPr>
              <a:t>左側組態 </a:t>
            </a:r>
            <a:r>
              <a:rPr lang="en-US" altLang="zh-TW" sz="1800" dirty="0">
                <a:sym typeface="Wingdings" panose="05000000000000000000" pitchFamily="2" charset="2"/>
              </a:rPr>
              <a:t> </a:t>
            </a:r>
            <a:r>
              <a:rPr lang="zh-TW" altLang="en-US" sz="1800" dirty="0">
                <a:sym typeface="Wingdings" panose="05000000000000000000" pitchFamily="2" charset="2"/>
              </a:rPr>
              <a:t>右上角</a:t>
            </a:r>
            <a:r>
              <a:rPr lang="en-US" altLang="zh-TW" sz="1800" dirty="0">
                <a:sym typeface="Wingdings" panose="05000000000000000000" pitchFamily="2" charset="2"/>
              </a:rPr>
              <a:t>Disabled </a:t>
            </a:r>
            <a:r>
              <a:rPr lang="zh-TW" altLang="en-US" sz="1800" dirty="0">
                <a:sym typeface="Wingdings" panose="05000000000000000000" pitchFamily="2" charset="2"/>
              </a:rPr>
              <a:t>切換到啟用 </a:t>
            </a:r>
            <a:r>
              <a:rPr lang="en-US" altLang="zh-TW" sz="1800" dirty="0">
                <a:sym typeface="Wingdings" panose="05000000000000000000" pitchFamily="2" charset="2"/>
              </a:rPr>
              <a:t> </a:t>
            </a:r>
            <a:r>
              <a:rPr lang="zh-TW" altLang="en-US" sz="1800" dirty="0">
                <a:sym typeface="Wingdings" panose="05000000000000000000" pitchFamily="2" charset="2"/>
              </a:rPr>
              <a:t>儲存</a:t>
            </a:r>
            <a:endParaRPr lang="en-US" altLang="zh-TW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zh-TW" altLang="en-US" sz="1800" dirty="0">
                <a:solidFill>
                  <a:srgbClr val="FF0000"/>
                </a:solidFill>
              </a:rPr>
              <a:t>關閉這三個</a:t>
            </a:r>
            <a:r>
              <a:rPr lang="en-US" altLang="zh-TW" sz="1800" dirty="0">
                <a:solidFill>
                  <a:srgbClr val="FF0000"/>
                </a:solidFill>
              </a:rPr>
              <a:t>job</a:t>
            </a:r>
            <a:r>
              <a:rPr lang="zh-TW" altLang="en-US" sz="1800" dirty="0">
                <a:solidFill>
                  <a:srgbClr val="FF0000"/>
                </a:solidFill>
              </a:rPr>
              <a:t>後就可以開始進行內外網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還原作業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</a:t>
            </a:r>
            <a:r>
              <a:rPr lang="zh-TW" altLang="en-US" sz="1800" dirty="0">
                <a:solidFill>
                  <a:srgbClr val="FF0000"/>
                </a:solidFill>
              </a:rPr>
              <a:t>讓內外網</a:t>
            </a:r>
            <a:r>
              <a:rPr lang="en-US" altLang="zh-TW" sz="1800" dirty="0">
                <a:solidFill>
                  <a:srgbClr val="FF0000"/>
                </a:solidFill>
              </a:rPr>
              <a:t>IDM</a:t>
            </a:r>
            <a:r>
              <a:rPr lang="zh-TW" altLang="en-US" sz="1800" dirty="0">
                <a:solidFill>
                  <a:srgbClr val="FF0000"/>
                </a:solidFill>
              </a:rPr>
              <a:t>持續更新資料並進行資料交換，但不對外網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做異動</a:t>
            </a:r>
            <a:r>
              <a:rPr lang="en-US" altLang="zh-TW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564032-98EE-71F5-2B80-2863743E9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847708"/>
            <a:ext cx="9649096" cy="3544389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37499115-0795-A546-ADC8-250D6811929F}"/>
              </a:ext>
            </a:extLst>
          </p:cNvPr>
          <p:cNvSpPr/>
          <p:nvPr/>
        </p:nvSpPr>
        <p:spPr>
          <a:xfrm>
            <a:off x="1837510" y="5387711"/>
            <a:ext cx="3718560" cy="100438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文字, 數字, 軟體, 字型 的圖片&#10;&#10;AI 產生的內容可能不正確。">
            <a:extLst>
              <a:ext uri="{FF2B5EF4-FFF2-40B4-BE49-F238E27FC236}">
                <a16:creationId xmlns:a16="http://schemas.microsoft.com/office/drawing/2014/main" id="{8D7AA687-D1D8-87D0-F481-CE01F1C8C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290" y="2847708"/>
            <a:ext cx="3018201" cy="19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6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6AE1-0CEE-A40C-2192-16E2AE25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B9FFA39-37CC-5D9B-D5BC-337CFB40A1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(2) </a:t>
            </a:r>
            <a:r>
              <a:rPr lang="zh-TW" altLang="en-US" sz="1800" dirty="0"/>
              <a:t>待內外網</a:t>
            </a:r>
            <a:r>
              <a:rPr lang="en-US" altLang="zh-TW" sz="1800" dirty="0"/>
              <a:t>AD</a:t>
            </a:r>
            <a:r>
              <a:rPr lang="zh-TW" altLang="en-US" sz="1800" dirty="0"/>
              <a:t>還原完畢後，等待</a:t>
            </a:r>
            <a:r>
              <a:rPr lang="en-US" altLang="zh-TW" sz="1800" dirty="0"/>
              <a:t>30</a:t>
            </a:r>
            <a:r>
              <a:rPr lang="zh-TW" altLang="en-US" sz="1800" dirty="0"/>
              <a:t>分鐘左右，進內外網第一台</a:t>
            </a:r>
            <a:r>
              <a:rPr lang="en-US" altLang="zh-TW" sz="1800" dirty="0"/>
              <a:t>AD</a:t>
            </a:r>
            <a:r>
              <a:rPr lang="zh-TW" altLang="en-US" sz="1800" dirty="0"/>
              <a:t>開啟</a:t>
            </a:r>
            <a:r>
              <a:rPr lang="en-US" altLang="zh-TW" sz="1800" dirty="0" err="1"/>
              <a:t>Dbeaver</a:t>
            </a:r>
            <a:r>
              <a:rPr lang="zh-TW" altLang="en-US" sz="1800" dirty="0"/>
              <a:t>工具，抽幾筆被誤刪的帳號，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 </a:t>
            </a:r>
            <a:r>
              <a:rPr lang="zh-TW" altLang="en-US" sz="1800" dirty="0"/>
              <a:t>看內網外</a:t>
            </a:r>
            <a:r>
              <a:rPr lang="en-US" altLang="zh-TW" sz="1800" dirty="0"/>
              <a:t>IDM</a:t>
            </a:r>
            <a:r>
              <a:rPr lang="zh-TW" altLang="en-US" sz="1800" dirty="0"/>
              <a:t>資料庫的</a:t>
            </a:r>
            <a:r>
              <a:rPr lang="en-US" altLang="zh-TW" sz="1800" dirty="0" err="1"/>
              <a:t>connector_space_ad_person_sync_detail</a:t>
            </a:r>
            <a:r>
              <a:rPr lang="en-US" altLang="zh-TW" sz="1800" dirty="0"/>
              <a:t> table</a:t>
            </a:r>
            <a:r>
              <a:rPr lang="zh-TW" altLang="en-US" sz="1800" dirty="0"/>
              <a:t>內，</a:t>
            </a:r>
            <a:r>
              <a:rPr lang="zh-TW" altLang="en-US" sz="1800" dirty="0">
                <a:solidFill>
                  <a:srgbClr val="FF0000"/>
                </a:solidFill>
              </a:rPr>
              <a:t>這些帳號是不是存在且 </a:t>
            </a:r>
            <a:r>
              <a:rPr lang="en-US" altLang="zh-TW" sz="1800" dirty="0" err="1">
                <a:solidFill>
                  <a:srgbClr val="FF0000"/>
                </a:solidFill>
              </a:rPr>
              <a:t>objectguid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zh-TW" altLang="en-US" sz="1800" dirty="0">
                <a:solidFill>
                  <a:srgbClr val="FF0000"/>
                </a:solidFill>
              </a:rPr>
              <a:t>欄位已經不是被標記為 </a:t>
            </a:r>
            <a:r>
              <a:rPr lang="en-US" altLang="zh-TW" sz="1800" dirty="0">
                <a:solidFill>
                  <a:srgbClr val="FF0000"/>
                </a:solidFill>
              </a:rPr>
              <a:t>-1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515A44-2489-575E-E883-9F39AF00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8" y="2255204"/>
            <a:ext cx="105727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12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0D7C-8D68-39FF-F26D-9D5A02F1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037C578-01D8-799F-7CAB-4965B5D36B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846" y="862149"/>
            <a:ext cx="11103428" cy="53837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/>
              <a:t>(3) </a:t>
            </a:r>
            <a:r>
              <a:rPr lang="zh-TW" altLang="en-US" sz="1800" dirty="0"/>
              <a:t>進外網</a:t>
            </a:r>
            <a:r>
              <a:rPr lang="en-US" altLang="zh-TW" sz="1800" dirty="0"/>
              <a:t>Jenkins </a:t>
            </a:r>
            <a:r>
              <a:rPr lang="en-US" altLang="zh-TW" sz="1800" dirty="0">
                <a:hlinkClick r:id="rId2"/>
              </a:rPr>
              <a:t>http://localhost:8080</a:t>
            </a:r>
            <a:r>
              <a:rPr lang="en-US" altLang="zh-TW" sz="1800" dirty="0"/>
              <a:t> (</a:t>
            </a:r>
            <a:r>
              <a:rPr lang="zh-TW" altLang="en-US" sz="1800" dirty="0"/>
              <a:t>中心麻煩由</a:t>
            </a:r>
            <a:r>
              <a:rPr lang="en-US" altLang="zh-TW" sz="1800" dirty="0"/>
              <a:t>XFS</a:t>
            </a:r>
            <a:r>
              <a:rPr lang="zh-TW" altLang="en-US" sz="1800" dirty="0"/>
              <a:t>的</a:t>
            </a:r>
            <a:r>
              <a:rPr lang="en-US" altLang="zh-TW" sz="1800" dirty="0"/>
              <a:t>IDM</a:t>
            </a:r>
            <a:r>
              <a:rPr lang="zh-TW" altLang="en-US" sz="1800" dirty="0"/>
              <a:t>跳板機開瀏覽器去連</a:t>
            </a:r>
            <a:r>
              <a:rPr lang="en-US" altLang="zh-TW" sz="1800" dirty="0"/>
              <a:t>)  </a:t>
            </a:r>
            <a:r>
              <a:rPr lang="zh-TW" altLang="en-US" sz="1800" dirty="0"/>
              <a:t>帳密</a:t>
            </a:r>
            <a:r>
              <a:rPr lang="en-US" altLang="zh-TW" sz="1800" dirty="0"/>
              <a:t>: admin / 1qaz@WSX </a:t>
            </a:r>
          </a:p>
          <a:p>
            <a:pPr marL="0" indent="0">
              <a:buNone/>
            </a:pPr>
            <a:r>
              <a:rPr lang="zh-TW" altLang="en-US" sz="1800" dirty="0"/>
              <a:t>開啟下方紅框處的三個</a:t>
            </a:r>
            <a:r>
              <a:rPr lang="en-US" altLang="zh-TW" sz="1800" dirty="0"/>
              <a:t>job : </a:t>
            </a:r>
            <a:r>
              <a:rPr lang="zh-TW" altLang="en-US" sz="1800" dirty="0"/>
              <a:t>點擊</a:t>
            </a:r>
            <a:r>
              <a:rPr lang="en-US" altLang="zh-TW" sz="1800" dirty="0"/>
              <a:t>job</a:t>
            </a:r>
            <a:r>
              <a:rPr lang="zh-TW" altLang="en-US" sz="1800" dirty="0"/>
              <a:t>名稱 </a:t>
            </a:r>
            <a:r>
              <a:rPr lang="en-US" altLang="zh-TW" sz="1800" dirty="0">
                <a:sym typeface="Wingdings" panose="05000000000000000000" pitchFamily="2" charset="2"/>
              </a:rPr>
              <a:t> </a:t>
            </a:r>
            <a:r>
              <a:rPr lang="zh-TW" altLang="en-US" sz="1800" dirty="0">
                <a:sym typeface="Wingdings" panose="05000000000000000000" pitchFamily="2" charset="2"/>
              </a:rPr>
              <a:t>左側組態 </a:t>
            </a:r>
            <a:r>
              <a:rPr lang="en-US" altLang="zh-TW" sz="1800" dirty="0">
                <a:sym typeface="Wingdings" panose="05000000000000000000" pitchFamily="2" charset="2"/>
              </a:rPr>
              <a:t> </a:t>
            </a:r>
            <a:r>
              <a:rPr lang="zh-TW" altLang="en-US" sz="1800" dirty="0">
                <a:sym typeface="Wingdings" panose="05000000000000000000" pitchFamily="2" charset="2"/>
              </a:rPr>
              <a:t>右上角</a:t>
            </a:r>
            <a:r>
              <a:rPr lang="en-US" altLang="zh-TW" sz="1800" dirty="0">
                <a:sym typeface="Wingdings" panose="05000000000000000000" pitchFamily="2" charset="2"/>
              </a:rPr>
              <a:t>Disabled </a:t>
            </a:r>
            <a:r>
              <a:rPr lang="zh-TW" altLang="en-US" sz="1800" dirty="0">
                <a:sym typeface="Wingdings" panose="05000000000000000000" pitchFamily="2" charset="2"/>
              </a:rPr>
              <a:t>切換到停用 </a:t>
            </a:r>
            <a:r>
              <a:rPr lang="en-US" altLang="zh-TW" sz="1800" dirty="0">
                <a:sym typeface="Wingdings" panose="05000000000000000000" pitchFamily="2" charset="2"/>
              </a:rPr>
              <a:t> </a:t>
            </a:r>
            <a:r>
              <a:rPr lang="zh-TW" altLang="en-US" sz="1800" dirty="0">
                <a:sym typeface="Wingdings" panose="05000000000000000000" pitchFamily="2" charset="2"/>
              </a:rPr>
              <a:t>儲存</a:t>
            </a:r>
            <a:endParaRPr lang="en-US" altLang="zh-TW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zh-TW" altLang="en-US" sz="1800" dirty="0">
                <a:solidFill>
                  <a:srgbClr val="FF0000"/>
                </a:solidFill>
              </a:rPr>
              <a:t>開啟這三個</a:t>
            </a:r>
            <a:r>
              <a:rPr lang="en-US" altLang="zh-TW" sz="1800" dirty="0">
                <a:solidFill>
                  <a:srgbClr val="FF0000"/>
                </a:solidFill>
              </a:rPr>
              <a:t>job</a:t>
            </a:r>
            <a:r>
              <a:rPr lang="zh-TW" altLang="en-US" sz="1800" dirty="0">
                <a:solidFill>
                  <a:srgbClr val="FF0000"/>
                </a:solidFill>
              </a:rPr>
              <a:t>後就會繼續進行外網</a:t>
            </a:r>
            <a:r>
              <a:rPr lang="en-US" altLang="zh-TW" sz="1800" dirty="0">
                <a:solidFill>
                  <a:srgbClr val="FF0000"/>
                </a:solidFill>
              </a:rPr>
              <a:t>AD</a:t>
            </a:r>
            <a:r>
              <a:rPr lang="zh-TW" altLang="en-US" sz="1800" dirty="0">
                <a:solidFill>
                  <a:srgbClr val="FF0000"/>
                </a:solidFill>
              </a:rPr>
              <a:t>的異動行為 </a:t>
            </a:r>
            <a:endParaRPr lang="en-US" altLang="zh-TW" dirty="0"/>
          </a:p>
          <a:p>
            <a:pPr marL="0" indent="0">
              <a:buNone/>
            </a:pPr>
            <a:endParaRPr lang="en-US" altLang="zh-TW" sz="1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1FCF82E-1DA6-327A-088B-CE897C3E9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569024"/>
            <a:ext cx="9649096" cy="3544389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A358BC6D-69DF-609E-4273-959F1FC2A6E3}"/>
              </a:ext>
            </a:extLst>
          </p:cNvPr>
          <p:cNvSpPr/>
          <p:nvPr/>
        </p:nvSpPr>
        <p:spPr>
          <a:xfrm>
            <a:off x="1837510" y="5109027"/>
            <a:ext cx="3718560" cy="100438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FFCACE1-6B06-D099-44B2-850920F00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59" y="2569024"/>
            <a:ext cx="3299460" cy="20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84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6733</TotalTime>
  <Words>2248</Words>
  <Application>Microsoft Office PowerPoint</Application>
  <PresentationFormat>寬螢幕</PresentationFormat>
  <Paragraphs>102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Hedy Liang</dc:creator>
  <cp:lastModifiedBy>何宗憲</cp:lastModifiedBy>
  <cp:revision>168</cp:revision>
  <dcterms:created xsi:type="dcterms:W3CDTF">2022-04-22T04:41:57Z</dcterms:created>
  <dcterms:modified xsi:type="dcterms:W3CDTF">2026-02-03T02:19:11Z</dcterms:modified>
</cp:coreProperties>
</file>