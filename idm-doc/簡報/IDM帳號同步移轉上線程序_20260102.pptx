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8"/>
  </p:handoutMasterIdLst>
  <p:sldIdLst>
    <p:sldId id="257" r:id="rId2"/>
    <p:sldId id="272" r:id="rId3"/>
    <p:sldId id="266" r:id="rId4"/>
    <p:sldId id="294" r:id="rId5"/>
    <p:sldId id="263" r:id="rId6"/>
    <p:sldId id="291" r:id="rId7"/>
    <p:sldId id="288" r:id="rId8"/>
    <p:sldId id="285" r:id="rId9"/>
    <p:sldId id="286" r:id="rId10"/>
    <p:sldId id="289" r:id="rId11"/>
    <p:sldId id="287" r:id="rId12"/>
    <p:sldId id="292" r:id="rId13"/>
    <p:sldId id="290" r:id="rId14"/>
    <p:sldId id="293" r:id="rId15"/>
    <p:sldId id="295" r:id="rId16"/>
    <p:sldId id="259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ED5B22-C280-49AA-AC99-24B02A423C0A}" v="4" dt="2022-05-16T13:59:27.1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坤倫 蔡" userId="b8c73ca30c6f9702" providerId="LiveId" clId="{F4ED5B22-C280-49AA-AC99-24B02A423C0A}"/>
    <pc:docChg chg="custSel modSld modMainMaster">
      <pc:chgData name="坤倫 蔡" userId="b8c73ca30c6f9702" providerId="LiveId" clId="{F4ED5B22-C280-49AA-AC99-24B02A423C0A}" dt="2022-05-16T14:20:19.159" v="3" actId="478"/>
      <pc:docMkLst>
        <pc:docMk/>
      </pc:docMkLst>
      <pc:sldChg chg="delSp modSp mod">
        <pc:chgData name="坤倫 蔡" userId="b8c73ca30c6f9702" providerId="LiveId" clId="{F4ED5B22-C280-49AA-AC99-24B02A423C0A}" dt="2022-05-16T14:20:19.159" v="3" actId="478"/>
        <pc:sldMkLst>
          <pc:docMk/>
          <pc:sldMk cId="1262234323" sldId="257"/>
        </pc:sldMkLst>
        <pc:spChg chg="del mod">
          <ac:chgData name="坤倫 蔡" userId="b8c73ca30c6f9702" providerId="LiveId" clId="{F4ED5B22-C280-49AA-AC99-24B02A423C0A}" dt="2022-05-16T14:20:17.514" v="2" actId="478"/>
          <ac:spMkLst>
            <pc:docMk/>
            <pc:sldMk cId="1262234323" sldId="257"/>
            <ac:spMk id="2" creationId="{780AC8EC-05C5-4C6F-9D95-CAAE2A5392E9}"/>
          </ac:spMkLst>
        </pc:spChg>
        <pc:spChg chg="del mod">
          <ac:chgData name="坤倫 蔡" userId="b8c73ca30c6f9702" providerId="LiveId" clId="{F4ED5B22-C280-49AA-AC99-24B02A423C0A}" dt="2022-05-16T14:20:19.159" v="3" actId="478"/>
          <ac:spMkLst>
            <pc:docMk/>
            <pc:sldMk cId="1262234323" sldId="257"/>
            <ac:spMk id="3" creationId="{C36CE338-1BB5-4A1A-BA58-8DADD5EA9E62}"/>
          </ac:spMkLst>
        </pc:spChg>
      </pc:sldChg>
      <pc:sldChg chg="modSp">
        <pc:chgData name="坤倫 蔡" userId="b8c73ca30c6f9702" providerId="LiveId" clId="{F4ED5B22-C280-49AA-AC99-24B02A423C0A}" dt="2022-05-16T13:59:27.117" v="1"/>
        <pc:sldMkLst>
          <pc:docMk/>
          <pc:sldMk cId="3790371374" sldId="258"/>
        </pc:sldMkLst>
        <pc:spChg chg="mod">
          <ac:chgData name="坤倫 蔡" userId="b8c73ca30c6f9702" providerId="LiveId" clId="{F4ED5B22-C280-49AA-AC99-24B02A423C0A}" dt="2022-05-16T13:59:27.117" v="1"/>
          <ac:spMkLst>
            <pc:docMk/>
            <pc:sldMk cId="3790371374" sldId="258"/>
            <ac:spMk id="2" creationId="{A0B32637-CC6C-4586-9B2C-7925A1DD27D8}"/>
          </ac:spMkLst>
        </pc:spChg>
      </pc:sldChg>
      <pc:sldMasterChg chg="modSp modSldLayout">
        <pc:chgData name="坤倫 蔡" userId="b8c73ca30c6f9702" providerId="LiveId" clId="{F4ED5B22-C280-49AA-AC99-24B02A423C0A}" dt="2022-05-16T13:59:27.117" v="1"/>
        <pc:sldMasterMkLst>
          <pc:docMk/>
          <pc:sldMasterMk cId="149859594" sldId="2147483648"/>
        </pc:sldMasterMkLst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2" creationId="{3EC3762E-B7DD-4390-8ACE-E2514B4E9E45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3" creationId="{90451230-FE94-4C1F-AF48-2AE147F714E7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4" creationId="{3D04953D-4676-481E-94A3-76B87EE9BE49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5" creationId="{37FB4712-A60E-43BD-96F4-AE2112D11F68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6" creationId="{1A3BFAE7-8BB6-47C9-8198-CA148DB89E42}"/>
          </ac:spMkLst>
        </pc:spChg>
        <pc:sldLayoutChg chg="modSp">
          <pc:chgData name="坤倫 蔡" userId="b8c73ca30c6f9702" providerId="LiveId" clId="{F4ED5B22-C280-49AA-AC99-24B02A423C0A}" dt="2022-05-16T13:59:27.117" v="1"/>
          <pc:sldLayoutMkLst>
            <pc:docMk/>
            <pc:sldMasterMk cId="149859594" sldId="2147483648"/>
            <pc:sldLayoutMk cId="881280802" sldId="2147483649"/>
          </pc:sldLayoutMkLst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881280802" sldId="2147483649"/>
              <ac:spMk id="2" creationId="{AE40CA09-5CFC-4B43-9426-71D032C7B44F}"/>
            </ac:spMkLst>
          </pc:spChg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881280802" sldId="2147483649"/>
              <ac:spMk id="3" creationId="{02163B6B-BAEC-43C5-97D3-F713AD8DA5D9}"/>
            </ac:spMkLst>
          </pc:spChg>
        </pc:sldLayoutChg>
        <pc:sldLayoutChg chg="modSp">
          <pc:chgData name="坤倫 蔡" userId="b8c73ca30c6f9702" providerId="LiveId" clId="{F4ED5B22-C280-49AA-AC99-24B02A423C0A}" dt="2022-05-16T13:59:27.117" v="1"/>
          <pc:sldLayoutMkLst>
            <pc:docMk/>
            <pc:sldMasterMk cId="149859594" sldId="2147483648"/>
            <pc:sldLayoutMk cId="2837395443" sldId="2147483656"/>
          </pc:sldLayoutMkLst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2837395443" sldId="2147483656"/>
              <ac:spMk id="9" creationId="{7ACB6EB1-8A48-423E-BD6C-27B1CC35B1BF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81147FA-8D98-4AEF-921E-B54DA00B4D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39A3945-820C-4768-9D89-586507B133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98716-CCB9-4C33-BBB1-4BDB23B72C8C}" type="datetimeFigureOut">
              <a:rPr lang="zh-TW" altLang="en-US" smtClean="0"/>
              <a:t>2026/6/25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6CAE714-2CD6-418A-ADAF-0EF26881F5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04C0EA8-8511-403D-9B49-EE7BEEAF8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23640-2296-42E9-8759-BBC7892090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6436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40CA09-5CFC-4B43-9426-71D032C7B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2163B6B-BAEC-43C5-97D3-F713AD8DA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D81525-44D4-47FE-9A31-937858C9A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676-393F-41EA-90CC-2245CD39E234}" type="datetimeFigureOut">
              <a:rPr lang="zh-TW" altLang="en-US" smtClean="0"/>
              <a:t>2026/6/25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E6E822-F024-4E62-B37B-B070811CA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A3E76D-2674-4BCE-8584-EC892FEFA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23F76-A5F0-494C-968E-BBC295ED8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1280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7ACB6EB1-8A48-423E-BD6C-27B1CC35B1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31900" y="1222375"/>
            <a:ext cx="10250489" cy="52847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837395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24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EC3762E-B7DD-4390-8ACE-E2514B4E9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451230-FE94-4C1F-AF48-2AE147F71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04953D-4676-481E-94A3-76B87EE9B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7F676-393F-41EA-90CC-2245CD39E234}" type="datetimeFigureOut">
              <a:rPr lang="zh-TW" altLang="en-US" smtClean="0"/>
              <a:t>2026/6/25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FB4712-A60E-43BD-96F4-AE2112D11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3BFAE7-8BB6-47C9-8198-CA148DB89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23F76-A5F0-494C-968E-BBC295ED8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59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9" r:id="rId3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7" indent="-228607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3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4436733" y="2970446"/>
            <a:ext cx="38973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/>
              <a:t>IDM</a:t>
            </a:r>
            <a:r>
              <a:rPr lang="zh-TW" altLang="en-US" sz="4400" b="1" dirty="0"/>
              <a:t>帳號同步移轉上線程序</a:t>
            </a:r>
          </a:p>
        </p:txBody>
      </p:sp>
    </p:spTree>
    <p:extLst>
      <p:ext uri="{BB962C8B-B14F-4D97-AF65-F5344CB8AC3E}">
        <p14:creationId xmlns:p14="http://schemas.microsoft.com/office/powerpoint/2010/main" val="1262234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A3715-32AA-06B1-E626-CA07D3811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5DDFE14-7017-E152-115D-121226FCC32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79054" y="961117"/>
            <a:ext cx="10250489" cy="528478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一</a:t>
            </a:r>
            <a:r>
              <a:rPr lang="en-US" altLang="zh-TW" dirty="0"/>
              <a:t>) </a:t>
            </a:r>
            <a:r>
              <a:rPr lang="zh-TW" altLang="en-US" dirty="0"/>
              <a:t>各區移轉上線新舊</a:t>
            </a:r>
            <a:r>
              <a:rPr lang="en-US" altLang="zh-TW" dirty="0"/>
              <a:t>IP</a:t>
            </a:r>
            <a:r>
              <a:rPr lang="zh-TW" altLang="en-US" dirty="0"/>
              <a:t>確認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二</a:t>
            </a:r>
            <a:r>
              <a:rPr lang="en-US" altLang="zh-TW" dirty="0"/>
              <a:t>) IDM</a:t>
            </a:r>
            <a:r>
              <a:rPr lang="zh-TW" altLang="en-US" dirty="0"/>
              <a:t>資料流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三</a:t>
            </a:r>
            <a:r>
              <a:rPr lang="en-US" altLang="zh-TW" dirty="0"/>
              <a:t>) </a:t>
            </a:r>
            <a:r>
              <a:rPr lang="zh-TW" altLang="en-US" dirty="0"/>
              <a:t>換回舊</a:t>
            </a:r>
            <a:r>
              <a:rPr lang="en-US" altLang="zh-TW" dirty="0"/>
              <a:t>IP</a:t>
            </a:r>
            <a:r>
              <a:rPr lang="zh-TW" altLang="en-US" dirty="0"/>
              <a:t>程序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四</a:t>
            </a:r>
            <a:r>
              <a:rPr lang="en-US" altLang="zh-TW" dirty="0"/>
              <a:t>) </a:t>
            </a:r>
            <a:r>
              <a:rPr lang="zh-TW" altLang="en-US" dirty="0"/>
              <a:t>維持新</a:t>
            </a:r>
            <a:r>
              <a:rPr lang="en-US" altLang="zh-TW" dirty="0"/>
              <a:t>IP</a:t>
            </a:r>
            <a:r>
              <a:rPr lang="zh-TW" altLang="en-US" dirty="0"/>
              <a:t>程序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五</a:t>
            </a:r>
            <a:r>
              <a:rPr lang="en-US" altLang="zh-TW" dirty="0"/>
              <a:t>) </a:t>
            </a:r>
            <a:r>
              <a:rPr lang="zh-TW" altLang="en-US" dirty="0"/>
              <a:t>內外網換回舊</a:t>
            </a:r>
            <a:r>
              <a:rPr lang="en-US" altLang="zh-TW" dirty="0"/>
              <a:t>IP</a:t>
            </a:r>
            <a:r>
              <a:rPr lang="zh-TW" altLang="en-US" dirty="0"/>
              <a:t>、中介維持新</a:t>
            </a:r>
            <a:r>
              <a:rPr lang="en-US" altLang="zh-TW" dirty="0"/>
              <a:t>IP</a:t>
            </a:r>
            <a:r>
              <a:rPr lang="zh-TW" altLang="en-US" dirty="0"/>
              <a:t>程序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六</a:t>
            </a:r>
            <a:r>
              <a:rPr lang="en-US" altLang="zh-TW" dirty="0"/>
              <a:t>) </a:t>
            </a:r>
            <a:r>
              <a:rPr lang="zh-TW" altLang="en-US" dirty="0"/>
              <a:t>系統移轉後確認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57342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51FF6-026C-A540-2EA2-F003FD11C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95A5EA3-B9A2-3A25-3659-F2E7A1568F5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79054" y="961117"/>
            <a:ext cx="10250489" cy="528478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一</a:t>
            </a:r>
            <a:r>
              <a:rPr lang="en-US" altLang="zh-TW" dirty="0"/>
              <a:t>) </a:t>
            </a:r>
            <a:r>
              <a:rPr lang="zh-TW" altLang="en-US" dirty="0"/>
              <a:t>各區移轉上線新舊</a:t>
            </a:r>
            <a:r>
              <a:rPr lang="en-US" altLang="zh-TW" dirty="0"/>
              <a:t>IP</a:t>
            </a:r>
            <a:r>
              <a:rPr lang="zh-TW" altLang="en-US" dirty="0"/>
              <a:t>確認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北國 </a:t>
            </a:r>
            <a:r>
              <a:rPr lang="en-US" altLang="zh-TW" dirty="0"/>
              <a:t>– </a:t>
            </a:r>
            <a:r>
              <a:rPr lang="zh-TW" altLang="en-US" dirty="0"/>
              <a:t>換回舊</a:t>
            </a:r>
            <a:r>
              <a:rPr lang="en-US" altLang="zh-TW" dirty="0"/>
              <a:t>IP</a:t>
            </a:r>
          </a:p>
          <a:p>
            <a:pPr marL="0" indent="0">
              <a:buNone/>
            </a:pPr>
            <a:r>
              <a:rPr lang="zh-TW" altLang="en-US" dirty="0"/>
              <a:t>北區 </a:t>
            </a:r>
            <a:r>
              <a:rPr lang="en-US" altLang="zh-TW" dirty="0"/>
              <a:t>– </a:t>
            </a:r>
            <a:r>
              <a:rPr lang="zh-TW" altLang="en-US" dirty="0"/>
              <a:t>換回舊</a:t>
            </a:r>
            <a:r>
              <a:rPr lang="en-US" altLang="zh-TW" dirty="0"/>
              <a:t>IP</a:t>
            </a:r>
          </a:p>
          <a:p>
            <a:pPr marL="0" indent="0">
              <a:buNone/>
            </a:pPr>
            <a:r>
              <a:rPr lang="zh-TW" altLang="en-US" dirty="0"/>
              <a:t>中區 </a:t>
            </a:r>
            <a:r>
              <a:rPr lang="en-US" altLang="zh-TW" dirty="0"/>
              <a:t>– </a:t>
            </a:r>
            <a:r>
              <a:rPr lang="zh-TW" altLang="en-US" dirty="0"/>
              <a:t>維持新</a:t>
            </a:r>
            <a:r>
              <a:rPr lang="en-US" altLang="zh-TW" dirty="0"/>
              <a:t>IP</a:t>
            </a:r>
          </a:p>
          <a:p>
            <a:pPr marL="0" indent="0">
              <a:buNone/>
            </a:pPr>
            <a:r>
              <a:rPr lang="zh-TW" altLang="en-US" dirty="0"/>
              <a:t>南區 </a:t>
            </a:r>
            <a:r>
              <a:rPr lang="en-US" altLang="zh-TW" dirty="0"/>
              <a:t>– </a:t>
            </a:r>
            <a:r>
              <a:rPr lang="zh-TW" altLang="en-US" dirty="0"/>
              <a:t>維持新</a:t>
            </a:r>
            <a:r>
              <a:rPr lang="en-US" altLang="zh-TW" dirty="0"/>
              <a:t>IP</a:t>
            </a:r>
          </a:p>
          <a:p>
            <a:pPr marL="0" indent="0">
              <a:buNone/>
            </a:pPr>
            <a:r>
              <a:rPr lang="zh-TW" altLang="en-US" dirty="0"/>
              <a:t>高國 </a:t>
            </a:r>
            <a:r>
              <a:rPr lang="en-US" altLang="zh-TW" dirty="0"/>
              <a:t>– </a:t>
            </a:r>
            <a:r>
              <a:rPr lang="zh-TW" altLang="en-US" dirty="0"/>
              <a:t>內外網換回舊</a:t>
            </a:r>
            <a:r>
              <a:rPr lang="en-US" altLang="zh-TW" dirty="0"/>
              <a:t>IP</a:t>
            </a:r>
            <a:r>
              <a:rPr lang="zh-TW" altLang="en-US" dirty="0"/>
              <a:t>，中介維持新</a:t>
            </a:r>
            <a:r>
              <a:rPr lang="en-US" altLang="zh-TW" dirty="0"/>
              <a:t>IP</a:t>
            </a:r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00587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51FF6-026C-A540-2EA2-F003FD11C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95A5EA3-B9A2-3A25-3659-F2E7A1568F5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79054" y="961117"/>
            <a:ext cx="10250489" cy="528478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二</a:t>
            </a:r>
            <a:r>
              <a:rPr lang="en-US" altLang="zh-TW" dirty="0"/>
              <a:t>) IDM</a:t>
            </a:r>
            <a:r>
              <a:rPr lang="zh-TW" altLang="en-US" dirty="0"/>
              <a:t>資料流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0E09EC0-5E3C-D362-4506-448EEC6EC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09" y="1429429"/>
            <a:ext cx="9052923" cy="43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010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0B32637-CC6C-4586-9B2C-7925A1DD27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8344" y="844731"/>
            <a:ext cx="10454890" cy="5375049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三</a:t>
            </a:r>
            <a:r>
              <a:rPr lang="en-US" altLang="zh-TW" dirty="0"/>
              <a:t>) </a:t>
            </a:r>
            <a:r>
              <a:rPr lang="zh-TW" altLang="en-US" dirty="0"/>
              <a:t>換回舊</a:t>
            </a:r>
            <a:r>
              <a:rPr lang="en-US" altLang="zh-TW" dirty="0"/>
              <a:t>IP</a:t>
            </a:r>
            <a:r>
              <a:rPr lang="zh-TW" altLang="en-US" dirty="0"/>
              <a:t>程序</a:t>
            </a:r>
            <a:endParaRPr lang="en-US" altLang="zh-TW" dirty="0"/>
          </a:p>
          <a:p>
            <a:pPr marL="514350" indent="-514350">
              <a:buAutoNum type="arabicParenBoth"/>
            </a:pPr>
            <a:r>
              <a:rPr lang="zh-TW" altLang="en-US" sz="2000" dirty="0"/>
              <a:t>關閉內網舊</a:t>
            </a:r>
            <a:r>
              <a:rPr lang="en-US" altLang="zh-TW" sz="2000" dirty="0"/>
              <a:t>IDM</a:t>
            </a:r>
            <a:r>
              <a:rPr lang="zh-TW" altLang="en-US" sz="2000" dirty="0"/>
              <a:t>主機</a:t>
            </a:r>
            <a:endParaRPr lang="en-US" altLang="zh-TW" sz="2000" dirty="0"/>
          </a:p>
          <a:p>
            <a:pPr marL="514350" indent="-514350">
              <a:buAutoNum type="arabicParenBoth"/>
            </a:pPr>
            <a:r>
              <a:rPr lang="zh-TW" altLang="en-US" sz="2000" dirty="0"/>
              <a:t>內中外</a:t>
            </a:r>
            <a:r>
              <a:rPr lang="zh-TW" altLang="en-US" sz="2000" dirty="0">
                <a:solidFill>
                  <a:srgbClr val="FF0000"/>
                </a:solidFill>
              </a:rPr>
              <a:t>三台主機</a:t>
            </a:r>
            <a:r>
              <a:rPr lang="zh-TW" altLang="en-US" sz="2000" dirty="0"/>
              <a:t>網卡更換回舊</a:t>
            </a:r>
            <a:r>
              <a:rPr lang="en-US" altLang="zh-TW" sz="2000" dirty="0"/>
              <a:t>IP</a:t>
            </a:r>
            <a:r>
              <a:rPr lang="zh-TW" altLang="en-US" sz="2000" dirty="0"/>
              <a:t>並重新下上網卡</a:t>
            </a:r>
            <a:r>
              <a:rPr lang="en-US" altLang="zh-TW" sz="2000" dirty="0"/>
              <a:t>(</a:t>
            </a:r>
            <a:r>
              <a:rPr lang="zh-TW" altLang="en-US" sz="2000" dirty="0"/>
              <a:t>如果有異動到</a:t>
            </a:r>
            <a:r>
              <a:rPr lang="en-US" altLang="zh-TW" sz="2000" dirty="0"/>
              <a:t>VM</a:t>
            </a:r>
            <a:r>
              <a:rPr lang="zh-TW" altLang="en-US" sz="2000" dirty="0"/>
              <a:t>虛擬網卡，需重開機</a:t>
            </a:r>
            <a:r>
              <a:rPr lang="en-US" altLang="zh-TW" sz="2000" dirty="0"/>
              <a:t>)</a:t>
            </a:r>
          </a:p>
          <a:p>
            <a:pPr marL="514350" indent="-514350">
              <a:buAutoNum type="arabicParenBoth"/>
            </a:pPr>
            <a:r>
              <a:rPr lang="zh-TW" altLang="en-US" sz="2000" dirty="0"/>
              <a:t>外網兩台</a:t>
            </a:r>
            <a:r>
              <a:rPr lang="en-US" altLang="zh-TW" sz="2000" dirty="0"/>
              <a:t>AD</a:t>
            </a:r>
            <a:r>
              <a:rPr lang="zh-TW" altLang="en-US" sz="2000" dirty="0"/>
              <a:t>更改密碼攔載設定檔，改回舊外網</a:t>
            </a:r>
            <a:r>
              <a:rPr lang="en-US" altLang="zh-TW" sz="2000" dirty="0"/>
              <a:t>IDM IP(</a:t>
            </a:r>
            <a:r>
              <a:rPr lang="zh-TW" altLang="en-US" sz="2000" dirty="0">
                <a:solidFill>
                  <a:srgbClr val="FF0000"/>
                </a:solidFill>
              </a:rPr>
              <a:t>同行參數有兩個</a:t>
            </a:r>
            <a:r>
              <a:rPr lang="en-US" altLang="zh-TW" sz="2000" dirty="0">
                <a:solidFill>
                  <a:srgbClr val="FF0000"/>
                </a:solidFill>
              </a:rPr>
              <a:t>IP</a:t>
            </a:r>
            <a:r>
              <a:rPr lang="zh-TW" altLang="en-US" sz="2000" dirty="0">
                <a:solidFill>
                  <a:srgbClr val="FF0000"/>
                </a:solidFill>
              </a:rPr>
              <a:t>要改</a:t>
            </a:r>
            <a:r>
              <a:rPr lang="en-US" altLang="zh-TW" sz="2000" dirty="0"/>
              <a:t>)</a:t>
            </a:r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97B6363A-4141-69B3-253E-89789CF29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04" y="2657617"/>
            <a:ext cx="6261463" cy="4200383"/>
          </a:xfrm>
          <a:prstGeom prst="rect">
            <a:avLst/>
          </a:prstGeom>
        </p:spPr>
      </p:pic>
      <p:pic>
        <p:nvPicPr>
          <p:cNvPr id="7" name="圖片 6" descr="一張含有 文字, 數字, 軟體, 字型 的圖片&#10;&#10;AI 產生的內容可能不正確。">
            <a:extLst>
              <a:ext uri="{FF2B5EF4-FFF2-40B4-BE49-F238E27FC236}">
                <a16:creationId xmlns:a16="http://schemas.microsoft.com/office/drawing/2014/main" id="{3159A37B-2E29-08D6-882F-948DC4D57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525" y="2887840"/>
            <a:ext cx="6467475" cy="2314575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1AB8C9B4-8403-C653-E86B-150ED4284BDE}"/>
              </a:ext>
            </a:extLst>
          </p:cNvPr>
          <p:cNvSpPr/>
          <p:nvPr/>
        </p:nvSpPr>
        <p:spPr>
          <a:xfrm>
            <a:off x="4494848" y="5939246"/>
            <a:ext cx="2255520" cy="3831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82AEAB3-6843-8EFE-009D-9C1F9523C274}"/>
              </a:ext>
            </a:extLst>
          </p:cNvPr>
          <p:cNvSpPr txBox="1"/>
          <p:nvPr/>
        </p:nvSpPr>
        <p:spPr>
          <a:xfrm>
            <a:off x="3289933" y="5301606"/>
            <a:ext cx="7201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Dlog.datasource.jdbc-url</a:t>
            </a:r>
            <a:r>
              <a:rPr lang="en-US" altLang="zh-TW" dirty="0">
                <a:solidFill>
                  <a:srgbClr val="FF0000"/>
                </a:solidFill>
              </a:rPr>
              <a:t>=</a:t>
            </a:r>
            <a:r>
              <a:rPr lang="en-US" altLang="zh-TW" dirty="0" err="1">
                <a:solidFill>
                  <a:srgbClr val="FF0000"/>
                </a:solidFill>
              </a:rPr>
              <a:t>jdbc:postgresql</a:t>
            </a:r>
            <a:r>
              <a:rPr lang="en-US" altLang="zh-TW" dirty="0">
                <a:solidFill>
                  <a:srgbClr val="FF0000"/>
                </a:solidFill>
              </a:rPr>
              <a:t>://{</a:t>
            </a:r>
            <a:r>
              <a:rPr lang="en-US" altLang="zh-TW" dirty="0" err="1">
                <a:solidFill>
                  <a:srgbClr val="FF0000"/>
                </a:solidFill>
              </a:rPr>
              <a:t>db_address</a:t>
            </a:r>
            <a:r>
              <a:rPr lang="en-US" altLang="zh-TW" dirty="0">
                <a:solidFill>
                  <a:srgbClr val="FF0000"/>
                </a:solidFill>
              </a:rPr>
              <a:t>}:5432/</a:t>
            </a:r>
            <a:r>
              <a:rPr lang="en-US" altLang="zh-TW" dirty="0" err="1">
                <a:solidFill>
                  <a:srgbClr val="FF0000"/>
                </a:solidFill>
              </a:rPr>
              <a:t>idmdb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Dweb.datasource.jdbc-url</a:t>
            </a:r>
            <a:r>
              <a:rPr lang="en-US" altLang="zh-TW" dirty="0">
                <a:solidFill>
                  <a:srgbClr val="FF0000"/>
                </a:solidFill>
              </a:rPr>
              <a:t>=</a:t>
            </a:r>
            <a:r>
              <a:rPr lang="en-US" altLang="zh-TW" dirty="0" err="1">
                <a:solidFill>
                  <a:srgbClr val="FF0000"/>
                </a:solidFill>
              </a:rPr>
              <a:t>jdbc:postgresql</a:t>
            </a:r>
            <a:r>
              <a:rPr lang="en-US" altLang="zh-TW" dirty="0">
                <a:solidFill>
                  <a:srgbClr val="FF0000"/>
                </a:solidFill>
              </a:rPr>
              <a:t>://{</a:t>
            </a:r>
            <a:r>
              <a:rPr lang="en-US" altLang="zh-TW" dirty="0" err="1">
                <a:solidFill>
                  <a:srgbClr val="FF0000"/>
                </a:solidFill>
              </a:rPr>
              <a:t>db_address</a:t>
            </a:r>
            <a:r>
              <a:rPr lang="en-US" altLang="zh-TW" dirty="0">
                <a:solidFill>
                  <a:srgbClr val="FF0000"/>
                </a:solidFill>
              </a:rPr>
              <a:t>}:5432/</a:t>
            </a:r>
            <a:r>
              <a:rPr lang="en-US" altLang="zh-TW" dirty="0" err="1">
                <a:solidFill>
                  <a:srgbClr val="FF0000"/>
                </a:solidFill>
              </a:rPr>
              <a:t>idmdb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D470680-0510-F207-3C0D-03C7B6DBC8B6}"/>
              </a:ext>
            </a:extLst>
          </p:cNvPr>
          <p:cNvSpPr txBox="1"/>
          <p:nvPr/>
        </p:nvSpPr>
        <p:spPr>
          <a:xfrm>
            <a:off x="7756208" y="2588063"/>
            <a:ext cx="359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改完要重啟</a:t>
            </a:r>
            <a:r>
              <a:rPr lang="en-US" altLang="zh-TW" dirty="0" err="1">
                <a:solidFill>
                  <a:srgbClr val="FF0000"/>
                </a:solidFill>
              </a:rPr>
              <a:t>AdPwdSync</a:t>
            </a:r>
            <a:r>
              <a:rPr lang="zh-TW" altLang="en-US" dirty="0">
                <a:solidFill>
                  <a:srgbClr val="FF0000"/>
                </a:solidFill>
              </a:rPr>
              <a:t>服務</a:t>
            </a:r>
          </a:p>
        </p:txBody>
      </p:sp>
    </p:spTree>
    <p:extLst>
      <p:ext uri="{BB962C8B-B14F-4D97-AF65-F5344CB8AC3E}">
        <p14:creationId xmlns:p14="http://schemas.microsoft.com/office/powerpoint/2010/main" val="852093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ACE76-32DB-3C7D-A41D-51FEFA946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B42C6B9-9F11-B996-BAA2-AA7E18F455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8344" y="844731"/>
            <a:ext cx="10454890" cy="5375049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000" dirty="0"/>
              <a:t>(4) </a:t>
            </a:r>
            <a:r>
              <a:rPr lang="zh-TW" altLang="en-US" sz="2000" dirty="0"/>
              <a:t>內網兩台、中心一台、異備一台</a:t>
            </a:r>
            <a:r>
              <a:rPr lang="zh-TW" altLang="en-US" sz="2000" dirty="0">
                <a:solidFill>
                  <a:srgbClr val="FF0000"/>
                </a:solidFill>
              </a:rPr>
              <a:t>共四台</a:t>
            </a:r>
            <a:r>
              <a:rPr lang="en-US" altLang="zh-TW" sz="2000" dirty="0"/>
              <a:t>AD</a:t>
            </a:r>
            <a:r>
              <a:rPr lang="zh-TW" altLang="en-US" sz="2000" dirty="0"/>
              <a:t>，確認設定檔內的資料庫連線密碼為 </a:t>
            </a:r>
            <a:r>
              <a:rPr lang="en-US" altLang="zh-TW" sz="2000" dirty="0"/>
              <a:t>“</a:t>
            </a:r>
            <a:r>
              <a:rPr lang="en-US" altLang="zh-TW" sz="2000" dirty="0" err="1">
                <a:solidFill>
                  <a:srgbClr val="FF0000"/>
                </a:solidFill>
              </a:rPr>
              <a:t>inidm</a:t>
            </a:r>
            <a:r>
              <a:rPr lang="en-US" altLang="zh-TW" sz="2000" dirty="0"/>
              <a:t>”</a:t>
            </a:r>
            <a:br>
              <a:rPr lang="en-US" altLang="zh-TW" sz="2000" dirty="0"/>
            </a:br>
            <a:r>
              <a:rPr lang="en-US" altLang="zh-TW" sz="2000" dirty="0"/>
              <a:t>(</a:t>
            </a:r>
            <a:r>
              <a:rPr lang="zh-TW" altLang="en-US" sz="2000" dirty="0">
                <a:solidFill>
                  <a:srgbClr val="FF0000"/>
                </a:solidFill>
              </a:rPr>
              <a:t>同行參數有兩個連線密碼</a:t>
            </a:r>
            <a:r>
              <a:rPr lang="en-US" altLang="zh-TW" sz="2000" dirty="0"/>
              <a:t>)</a:t>
            </a:r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7" name="圖片 6" descr="一張含有 文字, 數字, 軟體, 字型 的圖片&#10;&#10;AI 產生的內容可能不正確。">
            <a:extLst>
              <a:ext uri="{FF2B5EF4-FFF2-40B4-BE49-F238E27FC236}">
                <a16:creationId xmlns:a16="http://schemas.microsoft.com/office/drawing/2014/main" id="{924BAB03-403A-D64E-6EDD-B069EE1E5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525" y="2887840"/>
            <a:ext cx="6467475" cy="2314575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DCC21047-BA4F-EEC4-E222-599CA4082E42}"/>
              </a:ext>
            </a:extLst>
          </p:cNvPr>
          <p:cNvSpPr txBox="1"/>
          <p:nvPr/>
        </p:nvSpPr>
        <p:spPr>
          <a:xfrm>
            <a:off x="7756208" y="2588063"/>
            <a:ext cx="359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如果有異動要重啟</a:t>
            </a:r>
            <a:r>
              <a:rPr lang="en-US" altLang="zh-TW" dirty="0" err="1">
                <a:solidFill>
                  <a:srgbClr val="FF0000"/>
                </a:solidFill>
              </a:rPr>
              <a:t>AdPwdSync</a:t>
            </a:r>
            <a:r>
              <a:rPr lang="zh-TW" altLang="en-US" dirty="0">
                <a:solidFill>
                  <a:srgbClr val="FF0000"/>
                </a:solidFill>
              </a:rPr>
              <a:t>服務</a:t>
            </a:r>
          </a:p>
        </p:txBody>
      </p:sp>
      <p:pic>
        <p:nvPicPr>
          <p:cNvPr id="4" name="圖片 3" descr="一張含有 文字 的圖片&#10;&#10;AI 產生的內容可能不正確。">
            <a:extLst>
              <a:ext uri="{FF2B5EF4-FFF2-40B4-BE49-F238E27FC236}">
                <a16:creationId xmlns:a16="http://schemas.microsoft.com/office/drawing/2014/main" id="{C0C4D8ED-B8A6-DE3C-F43E-1EC3F31B7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35" y="4541861"/>
            <a:ext cx="5991225" cy="1171575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FAD650E3-8701-C289-674C-D5941B608C84}"/>
              </a:ext>
            </a:extLst>
          </p:cNvPr>
          <p:cNvSpPr/>
          <p:nvPr/>
        </p:nvSpPr>
        <p:spPr>
          <a:xfrm>
            <a:off x="3492486" y="5137339"/>
            <a:ext cx="3108473" cy="42743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30A5FDA-668B-DACD-6617-B18B5C7DBAF6}"/>
              </a:ext>
            </a:extLst>
          </p:cNvPr>
          <p:cNvSpPr txBox="1"/>
          <p:nvPr/>
        </p:nvSpPr>
        <p:spPr>
          <a:xfrm>
            <a:off x="2464526" y="4511722"/>
            <a:ext cx="4737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Dlog.datasource.password</a:t>
            </a:r>
            <a:r>
              <a:rPr lang="en-US" altLang="zh-TW" dirty="0">
                <a:solidFill>
                  <a:srgbClr val="FF0000"/>
                </a:solidFill>
              </a:rPr>
              <a:t>={</a:t>
            </a:r>
            <a:r>
              <a:rPr lang="en-US" altLang="zh-TW" dirty="0" err="1">
                <a:solidFill>
                  <a:srgbClr val="FF0000"/>
                </a:solidFill>
              </a:rPr>
              <a:t>db_password</a:t>
            </a:r>
            <a:r>
              <a:rPr lang="en-US" altLang="zh-TW" dirty="0">
                <a:solidFill>
                  <a:srgbClr val="FF0000"/>
                </a:solidFill>
              </a:rPr>
              <a:t>}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Dweb.datasource.password</a:t>
            </a:r>
            <a:r>
              <a:rPr lang="en-US" altLang="zh-TW" dirty="0">
                <a:solidFill>
                  <a:srgbClr val="FF0000"/>
                </a:solidFill>
              </a:rPr>
              <a:t>={</a:t>
            </a:r>
            <a:r>
              <a:rPr lang="en-US" altLang="zh-TW" dirty="0" err="1">
                <a:solidFill>
                  <a:srgbClr val="FF0000"/>
                </a:solidFill>
              </a:rPr>
              <a:t>db_password</a:t>
            </a:r>
            <a:r>
              <a:rPr lang="en-US" altLang="zh-TW" dirty="0">
                <a:solidFill>
                  <a:srgbClr val="FF0000"/>
                </a:solidFill>
              </a:rPr>
              <a:t>}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972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58E4F-6B1A-9073-604E-CF7111944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8DAB139-FD47-CA6D-A8F7-ADDB04E73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8344" y="844731"/>
            <a:ext cx="10454890" cy="5375049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000" dirty="0"/>
              <a:t>(5) </a:t>
            </a:r>
            <a:r>
              <a:rPr lang="zh-TW" altLang="en-US" sz="2000" dirty="0"/>
              <a:t>停用內網</a:t>
            </a:r>
            <a:r>
              <a:rPr lang="en-US" altLang="zh-TW" sz="2000" dirty="0"/>
              <a:t>Jenkins </a:t>
            </a:r>
            <a:r>
              <a:rPr lang="zh-TW" altLang="en-US" sz="2000" dirty="0">
                <a:solidFill>
                  <a:schemeClr val="accent1">
                    <a:lumMod val="75000"/>
                  </a:schemeClr>
                </a:solidFill>
              </a:rPr>
              <a:t>從舊</a:t>
            </a:r>
            <a:r>
              <a:rPr lang="en-US" altLang="zh-TW" sz="2000" dirty="0">
                <a:solidFill>
                  <a:schemeClr val="accent1">
                    <a:lumMod val="75000"/>
                  </a:schemeClr>
                </a:solidFill>
              </a:rPr>
              <a:t>IDM</a:t>
            </a:r>
            <a:r>
              <a:rPr lang="zh-TW" altLang="en-US" sz="2000" dirty="0">
                <a:solidFill>
                  <a:schemeClr val="accent1">
                    <a:lumMod val="75000"/>
                  </a:schemeClr>
                </a:solidFill>
              </a:rPr>
              <a:t>同步密碼到新</a:t>
            </a:r>
            <a:r>
              <a:rPr lang="en-US" altLang="zh-TW" sz="2000" dirty="0">
                <a:solidFill>
                  <a:schemeClr val="accent1">
                    <a:lumMod val="75000"/>
                  </a:schemeClr>
                </a:solidFill>
              </a:rPr>
              <a:t>IDM</a:t>
            </a:r>
            <a:r>
              <a:rPr lang="en-US" altLang="zh-TW" sz="2000" dirty="0"/>
              <a:t> Job – </a:t>
            </a:r>
            <a:r>
              <a:rPr lang="zh-TW" altLang="en-US" sz="2000" dirty="0">
                <a:solidFill>
                  <a:schemeClr val="accent6"/>
                </a:solidFill>
              </a:rPr>
              <a:t>點擊</a:t>
            </a:r>
            <a:r>
              <a:rPr lang="en-US" altLang="zh-TW" sz="2000" dirty="0">
                <a:solidFill>
                  <a:schemeClr val="accent6"/>
                </a:solidFill>
              </a:rPr>
              <a:t>Job</a:t>
            </a:r>
            <a:r>
              <a:rPr lang="zh-TW" altLang="en-US" sz="2000" dirty="0">
                <a:solidFill>
                  <a:schemeClr val="accent6"/>
                </a:solidFill>
              </a:rPr>
              <a:t>名稱 </a:t>
            </a:r>
            <a:r>
              <a:rPr lang="en-US" altLang="zh-TW" sz="2000" dirty="0">
                <a:solidFill>
                  <a:schemeClr val="accent6"/>
                </a:solidFill>
              </a:rPr>
              <a:t>-&gt; </a:t>
            </a:r>
            <a:r>
              <a:rPr lang="zh-TW" altLang="en-US" sz="2000" dirty="0">
                <a:solidFill>
                  <a:schemeClr val="accent6"/>
                </a:solidFill>
              </a:rPr>
              <a:t>組態 </a:t>
            </a:r>
            <a:r>
              <a:rPr lang="en-US" altLang="zh-TW" sz="2000" dirty="0">
                <a:solidFill>
                  <a:schemeClr val="accent6"/>
                </a:solidFill>
              </a:rPr>
              <a:t>-&gt; </a:t>
            </a:r>
            <a:r>
              <a:rPr lang="zh-TW" altLang="en-US" sz="2000" dirty="0">
                <a:solidFill>
                  <a:schemeClr val="accent6"/>
                </a:solidFill>
              </a:rPr>
              <a:t>切換到</a:t>
            </a:r>
            <a:r>
              <a:rPr lang="en-US" altLang="zh-TW" sz="2000" dirty="0">
                <a:solidFill>
                  <a:schemeClr val="accent6"/>
                </a:solidFill>
              </a:rPr>
              <a:t>Disabled</a:t>
            </a:r>
          </a:p>
          <a:p>
            <a:pPr marL="0" indent="0">
              <a:buNone/>
            </a:pPr>
            <a:r>
              <a:rPr lang="en-US" altLang="zh-TW" sz="1600" dirty="0">
                <a:hlinkClick r:id="rId2"/>
              </a:rPr>
              <a:t>http://localhost:8080</a:t>
            </a:r>
            <a:r>
              <a:rPr lang="en-US" altLang="zh-TW" sz="1600" dirty="0"/>
              <a:t>	</a:t>
            </a:r>
            <a:r>
              <a:rPr lang="zh-TW" altLang="en-US" sz="1600" dirty="0"/>
              <a:t>帳號</a:t>
            </a:r>
            <a:r>
              <a:rPr lang="en-US" altLang="zh-TW" sz="1600" dirty="0"/>
              <a:t>: admin    </a:t>
            </a:r>
            <a:r>
              <a:rPr lang="zh-TW" altLang="en-US" sz="1600" dirty="0"/>
              <a:t>密碼</a:t>
            </a:r>
            <a:r>
              <a:rPr lang="en-US" altLang="zh-TW" sz="1600" dirty="0"/>
              <a:t>:1qaz@WSX</a:t>
            </a:r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4" name="圖片 3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6CFAEC23-CC38-3029-2941-857C65CD8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13" y="1652314"/>
            <a:ext cx="7992019" cy="398703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5606E313-5950-2E9D-C364-62C5662217F7}"/>
              </a:ext>
            </a:extLst>
          </p:cNvPr>
          <p:cNvSpPr/>
          <p:nvPr/>
        </p:nvSpPr>
        <p:spPr>
          <a:xfrm>
            <a:off x="6846162" y="2749731"/>
            <a:ext cx="1557610" cy="3831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B76E518-C751-0EF2-93A7-BF1A6DEC8DF3}"/>
              </a:ext>
            </a:extLst>
          </p:cNvPr>
          <p:cNvSpPr/>
          <p:nvPr/>
        </p:nvSpPr>
        <p:spPr>
          <a:xfrm>
            <a:off x="3610928" y="5183776"/>
            <a:ext cx="1117827" cy="45556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0410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1149C-5A5D-4475-E5B9-3AB1505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C0A7C6-ECE8-2CB0-1887-3F14D72409D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8344" y="844731"/>
            <a:ext cx="10454890" cy="5375049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000" dirty="0"/>
              <a:t>(6)</a:t>
            </a:r>
            <a:r>
              <a:rPr lang="zh-TW" altLang="en-US" sz="2000" dirty="0"/>
              <a:t> 更改中介</a:t>
            </a:r>
            <a:r>
              <a:rPr lang="en-US" altLang="zh-TW" sz="2000" dirty="0"/>
              <a:t>Jenkins Jobs – </a:t>
            </a:r>
            <a:r>
              <a:rPr lang="zh-TW" altLang="en-US" sz="2000" dirty="0">
                <a:solidFill>
                  <a:schemeClr val="accent6"/>
                </a:solidFill>
              </a:rPr>
              <a:t>點擊</a:t>
            </a:r>
            <a:r>
              <a:rPr lang="en-US" altLang="zh-TW" sz="2000" dirty="0">
                <a:solidFill>
                  <a:schemeClr val="accent6"/>
                </a:solidFill>
              </a:rPr>
              <a:t>Job</a:t>
            </a:r>
            <a:r>
              <a:rPr lang="zh-TW" altLang="en-US" sz="2000" dirty="0">
                <a:solidFill>
                  <a:schemeClr val="accent6"/>
                </a:solidFill>
              </a:rPr>
              <a:t>名稱 </a:t>
            </a:r>
            <a:r>
              <a:rPr lang="en-US" altLang="zh-TW" sz="2000" dirty="0">
                <a:solidFill>
                  <a:schemeClr val="accent6"/>
                </a:solidFill>
              </a:rPr>
              <a:t>-&gt; </a:t>
            </a:r>
            <a:r>
              <a:rPr lang="zh-TW" altLang="en-US" sz="2000" dirty="0">
                <a:solidFill>
                  <a:schemeClr val="accent6"/>
                </a:solidFill>
              </a:rPr>
              <a:t>組態</a:t>
            </a:r>
            <a:r>
              <a:rPr lang="en-US" altLang="zh-TW" sz="2000" dirty="0"/>
              <a:t>(</a:t>
            </a:r>
            <a:r>
              <a:rPr lang="zh-TW" altLang="en-US" sz="2000" dirty="0"/>
              <a:t>更改後直接儲存即生效</a:t>
            </a:r>
            <a:r>
              <a:rPr lang="en-US" altLang="zh-TW" sz="2000" dirty="0"/>
              <a:t>)</a:t>
            </a:r>
          </a:p>
          <a:p>
            <a:pPr marL="0" indent="0">
              <a:buNone/>
            </a:pPr>
            <a:r>
              <a:rPr lang="zh-TW" altLang="en-US" sz="2000" dirty="0">
                <a:solidFill>
                  <a:schemeClr val="accent1">
                    <a:lumMod val="75000"/>
                  </a:schemeClr>
                </a:solidFill>
              </a:rPr>
              <a:t>同步中介資料庫到內網</a:t>
            </a:r>
            <a:r>
              <a:rPr lang="zh-TW" altLang="en-US" sz="2000" dirty="0"/>
              <a:t>、</a:t>
            </a:r>
            <a:r>
              <a:rPr lang="zh-TW" altLang="en-US" sz="2000" dirty="0">
                <a:solidFill>
                  <a:schemeClr val="accent1">
                    <a:lumMod val="75000"/>
                  </a:schemeClr>
                </a:solidFill>
              </a:rPr>
              <a:t>同步內網資料庫到中介</a:t>
            </a:r>
            <a:r>
              <a:rPr lang="zh-TW" altLang="en-US" sz="2000" dirty="0"/>
              <a:t> </a:t>
            </a:r>
            <a:r>
              <a:rPr lang="en-US" altLang="zh-TW" sz="2000" dirty="0"/>
              <a:t>– </a:t>
            </a:r>
            <a:r>
              <a:rPr lang="zh-TW" altLang="en-US" sz="2000" dirty="0"/>
              <a:t>將非</a:t>
            </a:r>
            <a:r>
              <a:rPr lang="en-US" altLang="zh-TW" sz="2000" dirty="0"/>
              <a:t>localhost IP</a:t>
            </a:r>
            <a:r>
              <a:rPr lang="zh-TW" altLang="en-US" sz="2000" dirty="0"/>
              <a:t>改回舊</a:t>
            </a:r>
            <a:r>
              <a:rPr lang="en-US" altLang="zh-TW" sz="2000" dirty="0"/>
              <a:t>IDM</a:t>
            </a:r>
            <a:r>
              <a:rPr lang="zh-TW" altLang="en-US" sz="2000" dirty="0"/>
              <a:t>內網</a:t>
            </a:r>
            <a:r>
              <a:rPr lang="en-US" altLang="zh-TW" sz="2000" dirty="0"/>
              <a:t>IP</a:t>
            </a:r>
          </a:p>
          <a:p>
            <a:pPr marL="0" indent="0">
              <a:buNone/>
            </a:pPr>
            <a:r>
              <a:rPr lang="zh-TW" altLang="en-US" sz="2000" dirty="0">
                <a:solidFill>
                  <a:schemeClr val="accent1">
                    <a:lumMod val="75000"/>
                  </a:schemeClr>
                </a:solidFill>
              </a:rPr>
              <a:t>同步中介資料庫到外網</a:t>
            </a:r>
            <a:r>
              <a:rPr lang="zh-TW" altLang="en-US" sz="2000" dirty="0"/>
              <a:t>、</a:t>
            </a:r>
            <a:r>
              <a:rPr lang="zh-TW" altLang="en-US" sz="2000" dirty="0">
                <a:solidFill>
                  <a:schemeClr val="accent1">
                    <a:lumMod val="75000"/>
                  </a:schemeClr>
                </a:solidFill>
              </a:rPr>
              <a:t>同步外網資料庫到中介</a:t>
            </a:r>
            <a:r>
              <a:rPr lang="zh-TW" altLang="en-US" sz="2000" dirty="0"/>
              <a:t> </a:t>
            </a:r>
            <a:r>
              <a:rPr lang="en-US" altLang="zh-TW" sz="2000" dirty="0"/>
              <a:t>– </a:t>
            </a:r>
            <a:r>
              <a:rPr lang="zh-TW" altLang="en-US" sz="2000" dirty="0"/>
              <a:t>將非</a:t>
            </a:r>
            <a:r>
              <a:rPr lang="en-US" altLang="zh-TW" sz="2000" dirty="0"/>
              <a:t>localhost IP</a:t>
            </a:r>
            <a:r>
              <a:rPr lang="zh-TW" altLang="en-US" sz="2000" dirty="0"/>
              <a:t>改回舊</a:t>
            </a:r>
            <a:r>
              <a:rPr lang="en-US" altLang="zh-TW" sz="2000" dirty="0"/>
              <a:t>IDM</a:t>
            </a:r>
            <a:r>
              <a:rPr lang="zh-TW" altLang="en-US" sz="2000" dirty="0"/>
              <a:t>外網</a:t>
            </a:r>
            <a:r>
              <a:rPr lang="en-US" altLang="zh-TW" sz="2000" dirty="0"/>
              <a:t>IP</a:t>
            </a:r>
          </a:p>
        </p:txBody>
      </p:sp>
      <p:pic>
        <p:nvPicPr>
          <p:cNvPr id="4" name="圖片 3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23353FCE-0275-EE9F-4C6E-024C06330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56" y="2342606"/>
            <a:ext cx="7978425" cy="419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696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736FD-18C7-1F78-E31E-A4B6ECAA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84F4790-9268-B186-530A-AECAC189588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8344" y="844731"/>
            <a:ext cx="10454890" cy="5375049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四</a:t>
            </a:r>
            <a:r>
              <a:rPr lang="en-US" altLang="zh-TW" dirty="0"/>
              <a:t>) </a:t>
            </a:r>
            <a:r>
              <a:rPr lang="zh-TW" altLang="en-US" dirty="0"/>
              <a:t>維持新</a:t>
            </a:r>
            <a:r>
              <a:rPr lang="en-US" altLang="zh-TW" dirty="0"/>
              <a:t>IP</a:t>
            </a:r>
            <a:r>
              <a:rPr lang="zh-TW" altLang="en-US" dirty="0"/>
              <a:t>程序</a:t>
            </a:r>
            <a:endParaRPr lang="en-US" altLang="zh-TW" dirty="0"/>
          </a:p>
          <a:p>
            <a:pPr marL="514350" indent="-514350">
              <a:buAutoNum type="arabicParenBoth"/>
            </a:pPr>
            <a:r>
              <a:rPr lang="zh-TW" altLang="en-US" sz="2000" dirty="0"/>
              <a:t>關閉內網舊</a:t>
            </a:r>
            <a:r>
              <a:rPr lang="en-US" altLang="zh-TW" sz="2000" dirty="0"/>
              <a:t>IDM</a:t>
            </a:r>
            <a:r>
              <a:rPr lang="zh-TW" altLang="en-US" sz="2000" dirty="0"/>
              <a:t>主機</a:t>
            </a:r>
            <a:endParaRPr lang="en-US" altLang="zh-TW" sz="2000" dirty="0"/>
          </a:p>
          <a:p>
            <a:pPr marL="514350" indent="-514350">
              <a:buAutoNum type="arabicParenBoth"/>
            </a:pPr>
            <a:r>
              <a:rPr lang="zh-TW" altLang="en-US" sz="2000" dirty="0"/>
              <a:t>內網兩台、中心一台、異備一台</a:t>
            </a:r>
            <a:r>
              <a:rPr lang="zh-TW" altLang="en-US" sz="2000" dirty="0">
                <a:solidFill>
                  <a:srgbClr val="FF0000"/>
                </a:solidFill>
              </a:rPr>
              <a:t>共四台</a:t>
            </a:r>
            <a:r>
              <a:rPr lang="en-US" altLang="zh-TW" sz="2000" dirty="0"/>
              <a:t>AD</a:t>
            </a:r>
            <a:r>
              <a:rPr lang="zh-TW" altLang="en-US" sz="2000" dirty="0"/>
              <a:t>更改密碼攔載設定檔，改成新內網</a:t>
            </a:r>
            <a:r>
              <a:rPr lang="en-US" altLang="zh-TW" sz="2000" dirty="0"/>
              <a:t>IDM IP(</a:t>
            </a:r>
            <a:r>
              <a:rPr lang="zh-TW" altLang="en-US" sz="2000" dirty="0">
                <a:solidFill>
                  <a:srgbClr val="FF0000"/>
                </a:solidFill>
              </a:rPr>
              <a:t>同行參數有兩個</a:t>
            </a:r>
            <a:r>
              <a:rPr lang="en-US" altLang="zh-TW" sz="2000" dirty="0">
                <a:solidFill>
                  <a:srgbClr val="FF0000"/>
                </a:solidFill>
              </a:rPr>
              <a:t>IP</a:t>
            </a:r>
            <a:r>
              <a:rPr lang="zh-TW" altLang="en-US" sz="2000" dirty="0">
                <a:solidFill>
                  <a:srgbClr val="FF0000"/>
                </a:solidFill>
              </a:rPr>
              <a:t>要改</a:t>
            </a:r>
            <a:r>
              <a:rPr lang="en-US" altLang="zh-TW" sz="2000" dirty="0"/>
              <a:t>)</a:t>
            </a:r>
            <a:r>
              <a:rPr lang="zh-TW" altLang="en-US" sz="2000" dirty="0"/>
              <a:t>，並確認資料庫連線密碼為 </a:t>
            </a:r>
            <a:r>
              <a:rPr lang="en-US" altLang="zh-TW" sz="2000" dirty="0"/>
              <a:t>“</a:t>
            </a:r>
            <a:r>
              <a:rPr lang="en-US" altLang="zh-TW" sz="2000" dirty="0" err="1">
                <a:solidFill>
                  <a:srgbClr val="FF0000"/>
                </a:solidFill>
              </a:rPr>
              <a:t>inidm</a:t>
            </a:r>
            <a:r>
              <a:rPr lang="en-US" altLang="zh-TW" sz="2000" dirty="0"/>
              <a:t>” – </a:t>
            </a:r>
            <a:r>
              <a:rPr lang="zh-TW" altLang="en-US" sz="2000" b="1" dirty="0">
                <a:solidFill>
                  <a:srgbClr val="FF0000"/>
                </a:solidFill>
              </a:rPr>
              <a:t>南區記得要改</a:t>
            </a:r>
            <a:endParaRPr lang="en-US" altLang="zh-TW" sz="2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sz="2000" b="1" dirty="0">
                <a:solidFill>
                  <a:srgbClr val="FF0000"/>
                </a:solidFill>
              </a:rPr>
              <a:t>          </a:t>
            </a:r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</a:rPr>
              <a:t>(Test-</a:t>
            </a:r>
            <a:r>
              <a:rPr lang="en-US" altLang="zh-TW" sz="1600" b="1" dirty="0" err="1">
                <a:solidFill>
                  <a:schemeClr val="accent1">
                    <a:lumMod val="75000"/>
                  </a:schemeClr>
                </a:solidFill>
              </a:rPr>
              <a:t>NetConnection</a:t>
            </a:r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</a:rPr>
              <a:t> “</a:t>
            </a:r>
            <a:r>
              <a:rPr lang="zh-TW" altLang="en-US" sz="1600" b="1" dirty="0">
                <a:solidFill>
                  <a:schemeClr val="accent1">
                    <a:lumMod val="75000"/>
                  </a:schemeClr>
                </a:solidFill>
              </a:rPr>
              <a:t>內網</a:t>
            </a:r>
            <a:r>
              <a:rPr lang="en-US" altLang="zh-TW" sz="1600" b="1" dirty="0">
                <a:solidFill>
                  <a:schemeClr val="accent1">
                    <a:lumMod val="75000"/>
                  </a:schemeClr>
                </a:solidFill>
              </a:rPr>
              <a:t>IDM IP” -Port 5432)</a:t>
            </a:r>
            <a:endParaRPr lang="en-US" altLang="zh-TW" sz="2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E3996A1-BAFA-21BC-B4BA-D8276755E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04" y="2887840"/>
            <a:ext cx="6261463" cy="3970160"/>
          </a:xfrm>
          <a:prstGeom prst="rect">
            <a:avLst/>
          </a:prstGeom>
        </p:spPr>
      </p:pic>
      <p:pic>
        <p:nvPicPr>
          <p:cNvPr id="7" name="圖片 6" descr="一張含有 文字, 數字, 軟體, 字型 的圖片&#10;&#10;AI 產生的內容可能不正確。">
            <a:extLst>
              <a:ext uri="{FF2B5EF4-FFF2-40B4-BE49-F238E27FC236}">
                <a16:creationId xmlns:a16="http://schemas.microsoft.com/office/drawing/2014/main" id="{81FF3E56-F407-2012-9D21-56F099382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525" y="2887840"/>
            <a:ext cx="6467475" cy="2314575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E2CE546D-0643-E4BA-7916-91E36C3CD4CB}"/>
              </a:ext>
            </a:extLst>
          </p:cNvPr>
          <p:cNvSpPr/>
          <p:nvPr/>
        </p:nvSpPr>
        <p:spPr>
          <a:xfrm>
            <a:off x="4494848" y="5939246"/>
            <a:ext cx="2255520" cy="3831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208682E-7C0A-6659-A836-1EC0FC0922CA}"/>
              </a:ext>
            </a:extLst>
          </p:cNvPr>
          <p:cNvSpPr txBox="1"/>
          <p:nvPr/>
        </p:nvSpPr>
        <p:spPr>
          <a:xfrm>
            <a:off x="2778034" y="4573253"/>
            <a:ext cx="70278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Dlog.datasource.jdbc-url</a:t>
            </a:r>
            <a:r>
              <a:rPr lang="en-US" altLang="zh-TW" dirty="0">
                <a:solidFill>
                  <a:srgbClr val="FF0000"/>
                </a:solidFill>
              </a:rPr>
              <a:t>=</a:t>
            </a:r>
            <a:r>
              <a:rPr lang="en-US" altLang="zh-TW" dirty="0" err="1">
                <a:solidFill>
                  <a:srgbClr val="FF0000"/>
                </a:solidFill>
              </a:rPr>
              <a:t>jdbc:postgresql</a:t>
            </a:r>
            <a:r>
              <a:rPr lang="en-US" altLang="zh-TW" dirty="0">
                <a:solidFill>
                  <a:srgbClr val="FF0000"/>
                </a:solidFill>
              </a:rPr>
              <a:t>://{</a:t>
            </a:r>
            <a:r>
              <a:rPr lang="en-US" altLang="zh-TW" dirty="0" err="1">
                <a:solidFill>
                  <a:srgbClr val="FF0000"/>
                </a:solidFill>
              </a:rPr>
              <a:t>db_address</a:t>
            </a:r>
            <a:r>
              <a:rPr lang="en-US" altLang="zh-TW" dirty="0">
                <a:solidFill>
                  <a:srgbClr val="FF0000"/>
                </a:solidFill>
              </a:rPr>
              <a:t>}:5432/</a:t>
            </a:r>
            <a:r>
              <a:rPr lang="en-US" altLang="zh-TW" dirty="0" err="1">
                <a:solidFill>
                  <a:srgbClr val="FF0000"/>
                </a:solidFill>
              </a:rPr>
              <a:t>idmdb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Dweb.datasource.jdbc-url</a:t>
            </a:r>
            <a:r>
              <a:rPr lang="en-US" altLang="zh-TW" dirty="0">
                <a:solidFill>
                  <a:srgbClr val="FF0000"/>
                </a:solidFill>
              </a:rPr>
              <a:t>=</a:t>
            </a:r>
            <a:r>
              <a:rPr lang="en-US" altLang="zh-TW" dirty="0" err="1">
                <a:solidFill>
                  <a:srgbClr val="FF0000"/>
                </a:solidFill>
              </a:rPr>
              <a:t>jdbc:postgresql</a:t>
            </a:r>
            <a:r>
              <a:rPr lang="en-US" altLang="zh-TW" dirty="0">
                <a:solidFill>
                  <a:srgbClr val="FF0000"/>
                </a:solidFill>
              </a:rPr>
              <a:t>://{</a:t>
            </a:r>
            <a:r>
              <a:rPr lang="en-US" altLang="zh-TW" dirty="0" err="1">
                <a:solidFill>
                  <a:srgbClr val="FF0000"/>
                </a:solidFill>
              </a:rPr>
              <a:t>db_address</a:t>
            </a:r>
            <a:r>
              <a:rPr lang="en-US" altLang="zh-TW" dirty="0">
                <a:solidFill>
                  <a:srgbClr val="FF0000"/>
                </a:solidFill>
              </a:rPr>
              <a:t>}:5432/</a:t>
            </a:r>
            <a:r>
              <a:rPr lang="en-US" altLang="zh-TW" dirty="0" err="1">
                <a:solidFill>
                  <a:srgbClr val="FF0000"/>
                </a:solidFill>
              </a:rPr>
              <a:t>idmdb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Dlog.datasource.password</a:t>
            </a:r>
            <a:r>
              <a:rPr lang="en-US" altLang="zh-TW" dirty="0">
                <a:solidFill>
                  <a:srgbClr val="FF0000"/>
                </a:solidFill>
              </a:rPr>
              <a:t>={</a:t>
            </a:r>
            <a:r>
              <a:rPr lang="en-US" altLang="zh-TW" dirty="0" err="1">
                <a:solidFill>
                  <a:srgbClr val="FF0000"/>
                </a:solidFill>
              </a:rPr>
              <a:t>db_password</a:t>
            </a:r>
            <a:r>
              <a:rPr lang="en-US" altLang="zh-TW" dirty="0">
                <a:solidFill>
                  <a:srgbClr val="FF0000"/>
                </a:solidFill>
              </a:rPr>
              <a:t>}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Dweb.datasource.password</a:t>
            </a:r>
            <a:r>
              <a:rPr lang="en-US" altLang="zh-TW" dirty="0">
                <a:solidFill>
                  <a:srgbClr val="FF0000"/>
                </a:solidFill>
              </a:rPr>
              <a:t>={</a:t>
            </a:r>
            <a:r>
              <a:rPr lang="en-US" altLang="zh-TW" dirty="0" err="1">
                <a:solidFill>
                  <a:srgbClr val="FF0000"/>
                </a:solidFill>
              </a:rPr>
              <a:t>db_password</a:t>
            </a:r>
            <a:r>
              <a:rPr lang="en-US" altLang="zh-TW" dirty="0">
                <a:solidFill>
                  <a:srgbClr val="FF0000"/>
                </a:solidFill>
              </a:rPr>
              <a:t>}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A4929CE-AD63-19ED-20DB-0AB9A3BB782B}"/>
              </a:ext>
            </a:extLst>
          </p:cNvPr>
          <p:cNvSpPr txBox="1"/>
          <p:nvPr/>
        </p:nvSpPr>
        <p:spPr>
          <a:xfrm>
            <a:off x="7756208" y="2588063"/>
            <a:ext cx="359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改完要重啟</a:t>
            </a:r>
            <a:r>
              <a:rPr lang="en-US" altLang="zh-TW" dirty="0" err="1">
                <a:solidFill>
                  <a:srgbClr val="FF0000"/>
                </a:solidFill>
              </a:rPr>
              <a:t>AdPwdSync</a:t>
            </a:r>
            <a:r>
              <a:rPr lang="zh-TW" altLang="en-US" dirty="0">
                <a:solidFill>
                  <a:srgbClr val="FF0000"/>
                </a:solidFill>
              </a:rPr>
              <a:t>服務</a:t>
            </a:r>
          </a:p>
        </p:txBody>
      </p:sp>
    </p:spTree>
    <p:extLst>
      <p:ext uri="{BB962C8B-B14F-4D97-AF65-F5344CB8AC3E}">
        <p14:creationId xmlns:p14="http://schemas.microsoft.com/office/powerpoint/2010/main" val="766291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7B52F-4F61-B10C-EF29-B3E658F45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6D334AD-3015-C8C3-7A83-56687C71F1D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8344" y="844731"/>
            <a:ext cx="10454890" cy="5375049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000" dirty="0"/>
              <a:t>(3) </a:t>
            </a:r>
            <a:r>
              <a:rPr lang="zh-TW" altLang="en-US" sz="2000" dirty="0"/>
              <a:t>停用內網</a:t>
            </a:r>
            <a:r>
              <a:rPr lang="en-US" altLang="zh-TW" sz="2000" dirty="0"/>
              <a:t>Jenkins</a:t>
            </a:r>
            <a:r>
              <a:rPr lang="zh-TW" altLang="en-US" sz="2000" dirty="0">
                <a:solidFill>
                  <a:schemeClr val="accent1">
                    <a:lumMod val="75000"/>
                  </a:schemeClr>
                </a:solidFill>
              </a:rPr>
              <a:t>從舊</a:t>
            </a:r>
            <a:r>
              <a:rPr lang="en-US" altLang="zh-TW" sz="2000" dirty="0">
                <a:solidFill>
                  <a:schemeClr val="accent1">
                    <a:lumMod val="75000"/>
                  </a:schemeClr>
                </a:solidFill>
              </a:rPr>
              <a:t>IDM</a:t>
            </a:r>
            <a:r>
              <a:rPr lang="zh-TW" altLang="en-US" sz="2000" dirty="0">
                <a:solidFill>
                  <a:schemeClr val="accent1">
                    <a:lumMod val="75000"/>
                  </a:schemeClr>
                </a:solidFill>
              </a:rPr>
              <a:t>同步密碼到新</a:t>
            </a:r>
            <a:r>
              <a:rPr lang="en-US" altLang="zh-TW" sz="2000" dirty="0">
                <a:solidFill>
                  <a:schemeClr val="accent1">
                    <a:lumMod val="75000"/>
                  </a:schemeClr>
                </a:solidFill>
              </a:rPr>
              <a:t>IDM</a:t>
            </a:r>
            <a:r>
              <a:rPr lang="en-US" altLang="zh-TW" sz="2000" dirty="0"/>
              <a:t> Job – </a:t>
            </a:r>
            <a:r>
              <a:rPr lang="zh-TW" altLang="en-US" sz="2000" dirty="0">
                <a:solidFill>
                  <a:schemeClr val="accent6"/>
                </a:solidFill>
              </a:rPr>
              <a:t>點擊</a:t>
            </a:r>
            <a:r>
              <a:rPr lang="en-US" altLang="zh-TW" sz="2000" dirty="0">
                <a:solidFill>
                  <a:schemeClr val="accent6"/>
                </a:solidFill>
              </a:rPr>
              <a:t>Job</a:t>
            </a:r>
            <a:r>
              <a:rPr lang="zh-TW" altLang="en-US" sz="2000" dirty="0">
                <a:solidFill>
                  <a:schemeClr val="accent6"/>
                </a:solidFill>
              </a:rPr>
              <a:t>名稱 </a:t>
            </a:r>
            <a:r>
              <a:rPr lang="en-US" altLang="zh-TW" sz="2000" dirty="0">
                <a:solidFill>
                  <a:schemeClr val="accent6"/>
                </a:solidFill>
              </a:rPr>
              <a:t>-&gt; </a:t>
            </a:r>
            <a:r>
              <a:rPr lang="zh-TW" altLang="en-US" sz="2000" dirty="0">
                <a:solidFill>
                  <a:schemeClr val="accent6"/>
                </a:solidFill>
              </a:rPr>
              <a:t>組態 </a:t>
            </a:r>
            <a:r>
              <a:rPr lang="en-US" altLang="zh-TW" sz="2000" dirty="0">
                <a:solidFill>
                  <a:schemeClr val="accent6"/>
                </a:solidFill>
              </a:rPr>
              <a:t>-&gt; </a:t>
            </a:r>
            <a:r>
              <a:rPr lang="zh-TW" altLang="en-US" sz="2000" dirty="0">
                <a:solidFill>
                  <a:schemeClr val="accent6"/>
                </a:solidFill>
              </a:rPr>
              <a:t>切換到</a:t>
            </a:r>
            <a:r>
              <a:rPr lang="en-US" altLang="zh-TW" sz="2000" dirty="0">
                <a:solidFill>
                  <a:schemeClr val="accent6"/>
                </a:solidFill>
              </a:rPr>
              <a:t>Disabled</a:t>
            </a:r>
            <a:br>
              <a:rPr lang="en-US" altLang="zh-TW" sz="2000" dirty="0">
                <a:solidFill>
                  <a:schemeClr val="accent6"/>
                </a:solidFill>
              </a:rPr>
            </a:br>
            <a:r>
              <a:rPr lang="en-US" altLang="zh-TW" sz="1600" dirty="0">
                <a:hlinkClick r:id="rId2"/>
              </a:rPr>
              <a:t>http://localhost:8080</a:t>
            </a:r>
            <a:r>
              <a:rPr lang="en-US" altLang="zh-TW" sz="1600" dirty="0"/>
              <a:t>	</a:t>
            </a:r>
            <a:r>
              <a:rPr lang="zh-TW" altLang="en-US" sz="1600" dirty="0"/>
              <a:t>帳號</a:t>
            </a:r>
            <a:r>
              <a:rPr lang="en-US" altLang="zh-TW" sz="1600" dirty="0"/>
              <a:t>: admin    </a:t>
            </a:r>
            <a:r>
              <a:rPr lang="zh-TW" altLang="en-US" sz="1600" dirty="0"/>
              <a:t>密碼</a:t>
            </a:r>
            <a:r>
              <a:rPr lang="en-US" altLang="zh-TW" sz="1600" dirty="0"/>
              <a:t>:1qaz@WSX</a:t>
            </a:r>
          </a:p>
        </p:txBody>
      </p:sp>
      <p:pic>
        <p:nvPicPr>
          <p:cNvPr id="4" name="圖片 3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C6393D4B-7233-8B80-E343-DB4B02DA5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13" y="1600063"/>
            <a:ext cx="7992019" cy="398703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AF0F4702-BBB6-D78C-1E18-B5E2B5B11A26}"/>
              </a:ext>
            </a:extLst>
          </p:cNvPr>
          <p:cNvSpPr/>
          <p:nvPr/>
        </p:nvSpPr>
        <p:spPr>
          <a:xfrm>
            <a:off x="6907122" y="2723605"/>
            <a:ext cx="1557610" cy="3831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6184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887ED-252B-D3CB-0A18-B43D55A8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6849FBC2-5B70-D67C-C817-2887F6C27FD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8344" y="844731"/>
            <a:ext cx="10454890" cy="5375049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五</a:t>
            </a:r>
            <a:r>
              <a:rPr lang="en-US" altLang="zh-TW" dirty="0"/>
              <a:t>) </a:t>
            </a:r>
            <a:r>
              <a:rPr lang="zh-TW" altLang="en-US" dirty="0"/>
              <a:t>內外網換回舊</a:t>
            </a:r>
            <a:r>
              <a:rPr lang="en-US" altLang="zh-TW" dirty="0"/>
              <a:t>IP</a:t>
            </a:r>
            <a:r>
              <a:rPr lang="zh-TW" altLang="en-US" dirty="0"/>
              <a:t>，中介維持新</a:t>
            </a:r>
            <a:r>
              <a:rPr lang="en-US" altLang="zh-TW" dirty="0"/>
              <a:t>IP</a:t>
            </a:r>
          </a:p>
          <a:p>
            <a:pPr marL="514350" indent="-514350">
              <a:buAutoNum type="arabicParenBoth"/>
            </a:pPr>
            <a:r>
              <a:rPr lang="zh-TW" altLang="en-US" sz="2000" dirty="0"/>
              <a:t>關閉內網舊</a:t>
            </a:r>
            <a:r>
              <a:rPr lang="en-US" altLang="zh-TW" sz="2000" dirty="0"/>
              <a:t>IDM</a:t>
            </a:r>
            <a:r>
              <a:rPr lang="zh-TW" altLang="en-US" sz="2000" dirty="0"/>
              <a:t>主機</a:t>
            </a:r>
            <a:endParaRPr lang="en-US" altLang="zh-TW" sz="2000" dirty="0"/>
          </a:p>
          <a:p>
            <a:pPr marL="514350" indent="-514350">
              <a:buFont typeface="Arial" panose="020B0604020202020204" pitchFamily="34" charset="0"/>
              <a:buAutoNum type="arabicParenBoth"/>
            </a:pPr>
            <a:r>
              <a:rPr lang="zh-TW" altLang="en-US" sz="2000" dirty="0"/>
              <a:t>內外</a:t>
            </a:r>
            <a:r>
              <a:rPr lang="zh-TW" altLang="en-US" sz="2000" dirty="0">
                <a:solidFill>
                  <a:srgbClr val="FF0000"/>
                </a:solidFill>
              </a:rPr>
              <a:t>二台主機</a:t>
            </a:r>
            <a:r>
              <a:rPr lang="zh-TW" altLang="en-US" sz="2000" dirty="0"/>
              <a:t>網卡更換回舊</a:t>
            </a:r>
            <a:r>
              <a:rPr lang="en-US" altLang="zh-TW" sz="2000" dirty="0"/>
              <a:t>IP</a:t>
            </a:r>
            <a:r>
              <a:rPr lang="zh-TW" altLang="en-US" sz="2000" dirty="0"/>
              <a:t>並重新下上網卡</a:t>
            </a:r>
            <a:r>
              <a:rPr lang="en-US" altLang="zh-TW" sz="2000" dirty="0"/>
              <a:t>(</a:t>
            </a:r>
            <a:r>
              <a:rPr lang="zh-TW" altLang="en-US" sz="2000" dirty="0"/>
              <a:t>如果有異動到</a:t>
            </a:r>
            <a:r>
              <a:rPr lang="en-US" altLang="zh-TW" sz="2000" dirty="0"/>
              <a:t>VM</a:t>
            </a:r>
            <a:r>
              <a:rPr lang="zh-TW" altLang="en-US" sz="2000" dirty="0"/>
              <a:t>虛擬網卡，需重開機</a:t>
            </a:r>
            <a:r>
              <a:rPr lang="en-US" altLang="zh-TW" sz="2000" dirty="0"/>
              <a:t>)</a:t>
            </a:r>
          </a:p>
          <a:p>
            <a:pPr marL="514350" indent="-514350">
              <a:buAutoNum type="arabicParenBoth"/>
            </a:pPr>
            <a:r>
              <a:rPr lang="zh-TW" altLang="en-US" sz="2000" dirty="0"/>
              <a:t>外網兩台</a:t>
            </a:r>
            <a:r>
              <a:rPr lang="en-US" altLang="zh-TW" sz="2000" dirty="0"/>
              <a:t>AD</a:t>
            </a:r>
            <a:r>
              <a:rPr lang="zh-TW" altLang="en-US" sz="2000" dirty="0"/>
              <a:t>更改密碼攔載設定檔，改回舊外網</a:t>
            </a:r>
            <a:r>
              <a:rPr lang="en-US" altLang="zh-TW" sz="2000" dirty="0"/>
              <a:t>IDM IP(</a:t>
            </a:r>
            <a:r>
              <a:rPr lang="zh-TW" altLang="en-US" sz="2000" dirty="0">
                <a:solidFill>
                  <a:srgbClr val="FF0000"/>
                </a:solidFill>
              </a:rPr>
              <a:t>同行參數有兩個</a:t>
            </a:r>
            <a:r>
              <a:rPr lang="en-US" altLang="zh-TW" sz="2000" dirty="0">
                <a:solidFill>
                  <a:srgbClr val="FF0000"/>
                </a:solidFill>
              </a:rPr>
              <a:t>IP</a:t>
            </a:r>
            <a:r>
              <a:rPr lang="zh-TW" altLang="en-US" sz="2000" dirty="0">
                <a:solidFill>
                  <a:srgbClr val="FF0000"/>
                </a:solidFill>
              </a:rPr>
              <a:t>要改</a:t>
            </a:r>
            <a:r>
              <a:rPr lang="en-US" altLang="zh-TW" sz="2000" dirty="0"/>
              <a:t>)</a:t>
            </a:r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37FE6ACC-EE0D-67CE-8712-83AAC92C7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04" y="2657617"/>
            <a:ext cx="6261463" cy="4200383"/>
          </a:xfrm>
          <a:prstGeom prst="rect">
            <a:avLst/>
          </a:prstGeom>
        </p:spPr>
      </p:pic>
      <p:pic>
        <p:nvPicPr>
          <p:cNvPr id="7" name="圖片 6" descr="一張含有 文字, 數字, 軟體, 字型 的圖片&#10;&#10;AI 產生的內容可能不正確。">
            <a:extLst>
              <a:ext uri="{FF2B5EF4-FFF2-40B4-BE49-F238E27FC236}">
                <a16:creationId xmlns:a16="http://schemas.microsoft.com/office/drawing/2014/main" id="{EA2FB2B9-E481-344D-EBFF-A0D6772C3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525" y="2887840"/>
            <a:ext cx="6467475" cy="2314575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151831AA-658A-5069-ECF5-595DA2856A70}"/>
              </a:ext>
            </a:extLst>
          </p:cNvPr>
          <p:cNvSpPr/>
          <p:nvPr/>
        </p:nvSpPr>
        <p:spPr>
          <a:xfrm>
            <a:off x="4494848" y="5939246"/>
            <a:ext cx="2255520" cy="3831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70C6061-F512-A70B-F8C2-9982E8BB5DD5}"/>
              </a:ext>
            </a:extLst>
          </p:cNvPr>
          <p:cNvSpPr txBox="1"/>
          <p:nvPr/>
        </p:nvSpPr>
        <p:spPr>
          <a:xfrm>
            <a:off x="3405052" y="5247665"/>
            <a:ext cx="8029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Dlog.datasource.jdbc-url</a:t>
            </a:r>
            <a:r>
              <a:rPr lang="en-US" altLang="zh-TW" dirty="0">
                <a:solidFill>
                  <a:srgbClr val="FF0000"/>
                </a:solidFill>
              </a:rPr>
              <a:t>=</a:t>
            </a:r>
            <a:r>
              <a:rPr lang="en-US" altLang="zh-TW" dirty="0" err="1">
                <a:solidFill>
                  <a:srgbClr val="FF0000"/>
                </a:solidFill>
              </a:rPr>
              <a:t>jdbc:postgresql</a:t>
            </a:r>
            <a:r>
              <a:rPr lang="en-US" altLang="zh-TW" dirty="0">
                <a:solidFill>
                  <a:srgbClr val="FF0000"/>
                </a:solidFill>
              </a:rPr>
              <a:t>://{</a:t>
            </a:r>
            <a:r>
              <a:rPr lang="en-US" altLang="zh-TW" dirty="0" err="1">
                <a:solidFill>
                  <a:srgbClr val="FF0000"/>
                </a:solidFill>
              </a:rPr>
              <a:t>db_address</a:t>
            </a:r>
            <a:r>
              <a:rPr lang="en-US" altLang="zh-TW" dirty="0">
                <a:solidFill>
                  <a:srgbClr val="FF0000"/>
                </a:solidFill>
              </a:rPr>
              <a:t>}:5432/</a:t>
            </a:r>
            <a:r>
              <a:rPr lang="en-US" altLang="zh-TW" dirty="0" err="1">
                <a:solidFill>
                  <a:srgbClr val="FF0000"/>
                </a:solidFill>
              </a:rPr>
              <a:t>idmdb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Dweb.datasource.jdbc-url</a:t>
            </a:r>
            <a:r>
              <a:rPr lang="en-US" altLang="zh-TW" dirty="0">
                <a:solidFill>
                  <a:srgbClr val="FF0000"/>
                </a:solidFill>
              </a:rPr>
              <a:t>=</a:t>
            </a:r>
            <a:r>
              <a:rPr lang="en-US" altLang="zh-TW" dirty="0" err="1">
                <a:solidFill>
                  <a:srgbClr val="FF0000"/>
                </a:solidFill>
              </a:rPr>
              <a:t>jdbc:postgresql</a:t>
            </a:r>
            <a:r>
              <a:rPr lang="en-US" altLang="zh-TW" dirty="0">
                <a:solidFill>
                  <a:srgbClr val="FF0000"/>
                </a:solidFill>
              </a:rPr>
              <a:t>://{</a:t>
            </a:r>
            <a:r>
              <a:rPr lang="en-US" altLang="zh-TW" dirty="0" err="1">
                <a:solidFill>
                  <a:srgbClr val="FF0000"/>
                </a:solidFill>
              </a:rPr>
              <a:t>db_address</a:t>
            </a:r>
            <a:r>
              <a:rPr lang="en-US" altLang="zh-TW" dirty="0">
                <a:solidFill>
                  <a:srgbClr val="FF0000"/>
                </a:solidFill>
              </a:rPr>
              <a:t>}:5432/</a:t>
            </a:r>
            <a:r>
              <a:rPr lang="en-US" altLang="zh-TW" dirty="0" err="1">
                <a:solidFill>
                  <a:srgbClr val="FF0000"/>
                </a:solidFill>
              </a:rPr>
              <a:t>idmdb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A2318BA-C5C1-D785-82BD-797714F417F0}"/>
              </a:ext>
            </a:extLst>
          </p:cNvPr>
          <p:cNvSpPr txBox="1"/>
          <p:nvPr/>
        </p:nvSpPr>
        <p:spPr>
          <a:xfrm>
            <a:off x="7756208" y="2588063"/>
            <a:ext cx="359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改完要重啟</a:t>
            </a:r>
            <a:r>
              <a:rPr lang="en-US" altLang="zh-TW" dirty="0" err="1">
                <a:solidFill>
                  <a:srgbClr val="FF0000"/>
                </a:solidFill>
              </a:rPr>
              <a:t>AdPwdSync</a:t>
            </a:r>
            <a:r>
              <a:rPr lang="zh-TW" altLang="en-US" dirty="0">
                <a:solidFill>
                  <a:srgbClr val="FF0000"/>
                </a:solidFill>
              </a:rPr>
              <a:t>服務</a:t>
            </a:r>
          </a:p>
        </p:txBody>
      </p:sp>
    </p:spTree>
    <p:extLst>
      <p:ext uri="{BB962C8B-B14F-4D97-AF65-F5344CB8AC3E}">
        <p14:creationId xmlns:p14="http://schemas.microsoft.com/office/powerpoint/2010/main" val="1361989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CAF64-27A5-6FB4-36E0-47F755D32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661BB481-27D4-94ED-0B0F-2AFAA2429F3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8344" y="844731"/>
            <a:ext cx="10454890" cy="5375049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000" dirty="0"/>
              <a:t>(4) </a:t>
            </a:r>
            <a:r>
              <a:rPr lang="zh-TW" altLang="en-US" sz="2000" dirty="0"/>
              <a:t>內網兩台、中心一台、異備一台</a:t>
            </a:r>
            <a:r>
              <a:rPr lang="zh-TW" altLang="en-US" sz="2000" dirty="0">
                <a:solidFill>
                  <a:srgbClr val="FF0000"/>
                </a:solidFill>
              </a:rPr>
              <a:t>共四台</a:t>
            </a:r>
            <a:r>
              <a:rPr lang="en-US" altLang="zh-TW" sz="2000" dirty="0"/>
              <a:t>AD</a:t>
            </a:r>
            <a:r>
              <a:rPr lang="zh-TW" altLang="en-US" sz="2000" dirty="0"/>
              <a:t>，確認設定檔內的資料庫連線密碼為 </a:t>
            </a:r>
            <a:r>
              <a:rPr lang="en-US" altLang="zh-TW" sz="2000" dirty="0"/>
              <a:t>“</a:t>
            </a:r>
            <a:r>
              <a:rPr lang="en-US" altLang="zh-TW" sz="2000" dirty="0" err="1">
                <a:solidFill>
                  <a:srgbClr val="FF0000"/>
                </a:solidFill>
              </a:rPr>
              <a:t>inidm</a:t>
            </a:r>
            <a:r>
              <a:rPr lang="en-US" altLang="zh-TW" sz="2000" dirty="0"/>
              <a:t>”</a:t>
            </a:r>
            <a:br>
              <a:rPr lang="en-US" altLang="zh-TW" sz="2000" dirty="0"/>
            </a:br>
            <a:r>
              <a:rPr lang="en-US" altLang="zh-TW" sz="2000" dirty="0"/>
              <a:t>(</a:t>
            </a:r>
            <a:r>
              <a:rPr lang="zh-TW" altLang="en-US" sz="2000" dirty="0">
                <a:solidFill>
                  <a:srgbClr val="FF0000"/>
                </a:solidFill>
              </a:rPr>
              <a:t>同行參數有兩個連線密碼</a:t>
            </a:r>
            <a:r>
              <a:rPr lang="en-US" altLang="zh-TW" sz="2000" dirty="0"/>
              <a:t>)</a:t>
            </a:r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7" name="圖片 6" descr="一張含有 文字, 數字, 軟體, 字型 的圖片&#10;&#10;AI 產生的內容可能不正確。">
            <a:extLst>
              <a:ext uri="{FF2B5EF4-FFF2-40B4-BE49-F238E27FC236}">
                <a16:creationId xmlns:a16="http://schemas.microsoft.com/office/drawing/2014/main" id="{1098E38E-25F7-8B46-2E00-FFED764EE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525" y="2887840"/>
            <a:ext cx="6467475" cy="2314575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0FFDE4AC-08FC-209C-1E41-050E44B8567E}"/>
              </a:ext>
            </a:extLst>
          </p:cNvPr>
          <p:cNvSpPr txBox="1"/>
          <p:nvPr/>
        </p:nvSpPr>
        <p:spPr>
          <a:xfrm>
            <a:off x="7756208" y="2588063"/>
            <a:ext cx="359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如果有異動要重啟</a:t>
            </a:r>
            <a:r>
              <a:rPr lang="en-US" altLang="zh-TW" dirty="0" err="1">
                <a:solidFill>
                  <a:srgbClr val="FF0000"/>
                </a:solidFill>
              </a:rPr>
              <a:t>AdPwdSync</a:t>
            </a:r>
            <a:r>
              <a:rPr lang="zh-TW" altLang="en-US" dirty="0">
                <a:solidFill>
                  <a:srgbClr val="FF0000"/>
                </a:solidFill>
              </a:rPr>
              <a:t>服務</a:t>
            </a:r>
          </a:p>
        </p:txBody>
      </p:sp>
      <p:pic>
        <p:nvPicPr>
          <p:cNvPr id="4" name="圖片 3" descr="一張含有 文字 的圖片&#10;&#10;AI 產生的內容可能不正確。">
            <a:extLst>
              <a:ext uri="{FF2B5EF4-FFF2-40B4-BE49-F238E27FC236}">
                <a16:creationId xmlns:a16="http://schemas.microsoft.com/office/drawing/2014/main" id="{D8C239F3-9B86-CAF3-B483-9B42C69A8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35" y="4541861"/>
            <a:ext cx="5991225" cy="1171575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DAB43E31-E289-06B3-91E1-E32371F026AE}"/>
              </a:ext>
            </a:extLst>
          </p:cNvPr>
          <p:cNvSpPr/>
          <p:nvPr/>
        </p:nvSpPr>
        <p:spPr>
          <a:xfrm>
            <a:off x="3492486" y="5137339"/>
            <a:ext cx="3108473" cy="42743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864A282-CA30-3A73-8504-080C096F0A16}"/>
              </a:ext>
            </a:extLst>
          </p:cNvPr>
          <p:cNvSpPr txBox="1"/>
          <p:nvPr/>
        </p:nvSpPr>
        <p:spPr>
          <a:xfrm>
            <a:off x="2464526" y="4511722"/>
            <a:ext cx="4737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Dlog.datasource.password</a:t>
            </a:r>
            <a:r>
              <a:rPr lang="en-US" altLang="zh-TW" dirty="0">
                <a:solidFill>
                  <a:srgbClr val="FF0000"/>
                </a:solidFill>
              </a:rPr>
              <a:t>={</a:t>
            </a:r>
            <a:r>
              <a:rPr lang="en-US" altLang="zh-TW" dirty="0" err="1">
                <a:solidFill>
                  <a:srgbClr val="FF0000"/>
                </a:solidFill>
              </a:rPr>
              <a:t>db_password</a:t>
            </a:r>
            <a:r>
              <a:rPr lang="en-US" altLang="zh-TW" dirty="0">
                <a:solidFill>
                  <a:srgbClr val="FF0000"/>
                </a:solidFill>
              </a:rPr>
              <a:t>}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>
                <a:solidFill>
                  <a:srgbClr val="FF0000"/>
                </a:solidFill>
              </a:rPr>
              <a:t>-</a:t>
            </a:r>
            <a:r>
              <a:rPr lang="en-US" altLang="zh-TW" dirty="0" err="1">
                <a:solidFill>
                  <a:srgbClr val="FF0000"/>
                </a:solidFill>
              </a:rPr>
              <a:t>Dweb.datasource.password</a:t>
            </a:r>
            <a:r>
              <a:rPr lang="en-US" altLang="zh-TW" dirty="0">
                <a:solidFill>
                  <a:srgbClr val="FF0000"/>
                </a:solidFill>
              </a:rPr>
              <a:t>={</a:t>
            </a:r>
            <a:r>
              <a:rPr lang="en-US" altLang="zh-TW" dirty="0" err="1">
                <a:solidFill>
                  <a:srgbClr val="FF0000"/>
                </a:solidFill>
              </a:rPr>
              <a:t>db_password</a:t>
            </a:r>
            <a:r>
              <a:rPr lang="en-US" altLang="zh-TW" dirty="0">
                <a:solidFill>
                  <a:srgbClr val="FF0000"/>
                </a:solidFill>
              </a:rPr>
              <a:t>}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410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93EE4-4F8A-2EB4-CACE-07125B329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7CEB635-CC22-0B56-81C0-7724CA24146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8344" y="844731"/>
            <a:ext cx="10454890" cy="5375049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000" dirty="0"/>
              <a:t>(5) </a:t>
            </a:r>
            <a:r>
              <a:rPr lang="zh-TW" altLang="en-US" sz="2000" dirty="0"/>
              <a:t>停用內網</a:t>
            </a:r>
            <a:r>
              <a:rPr lang="en-US" altLang="zh-TW" sz="2000" dirty="0"/>
              <a:t>Jenkins</a:t>
            </a:r>
            <a:r>
              <a:rPr lang="zh-TW" altLang="en-US" sz="2000" dirty="0">
                <a:solidFill>
                  <a:schemeClr val="accent1">
                    <a:lumMod val="75000"/>
                  </a:schemeClr>
                </a:solidFill>
              </a:rPr>
              <a:t>從舊</a:t>
            </a:r>
            <a:r>
              <a:rPr lang="en-US" altLang="zh-TW" sz="2000" dirty="0">
                <a:solidFill>
                  <a:schemeClr val="accent1">
                    <a:lumMod val="75000"/>
                  </a:schemeClr>
                </a:solidFill>
              </a:rPr>
              <a:t>IDM</a:t>
            </a:r>
            <a:r>
              <a:rPr lang="zh-TW" altLang="en-US" sz="2000" dirty="0">
                <a:solidFill>
                  <a:schemeClr val="accent1">
                    <a:lumMod val="75000"/>
                  </a:schemeClr>
                </a:solidFill>
              </a:rPr>
              <a:t>同步密碼到新</a:t>
            </a:r>
            <a:r>
              <a:rPr lang="en-US" altLang="zh-TW" sz="2000" dirty="0">
                <a:solidFill>
                  <a:schemeClr val="accent1">
                    <a:lumMod val="75000"/>
                  </a:schemeClr>
                </a:solidFill>
              </a:rPr>
              <a:t>IDM</a:t>
            </a:r>
            <a:r>
              <a:rPr lang="en-US" altLang="zh-TW" sz="2000" dirty="0"/>
              <a:t> Job – </a:t>
            </a:r>
            <a:r>
              <a:rPr lang="zh-TW" altLang="en-US" sz="2000" dirty="0">
                <a:solidFill>
                  <a:schemeClr val="accent6"/>
                </a:solidFill>
              </a:rPr>
              <a:t>點擊</a:t>
            </a:r>
            <a:r>
              <a:rPr lang="en-US" altLang="zh-TW" sz="2000" dirty="0">
                <a:solidFill>
                  <a:schemeClr val="accent6"/>
                </a:solidFill>
              </a:rPr>
              <a:t>Job</a:t>
            </a:r>
            <a:r>
              <a:rPr lang="zh-TW" altLang="en-US" sz="2000" dirty="0">
                <a:solidFill>
                  <a:schemeClr val="accent6"/>
                </a:solidFill>
              </a:rPr>
              <a:t>名稱 </a:t>
            </a:r>
            <a:r>
              <a:rPr lang="en-US" altLang="zh-TW" sz="2000" dirty="0">
                <a:solidFill>
                  <a:schemeClr val="accent6"/>
                </a:solidFill>
              </a:rPr>
              <a:t>-&gt; </a:t>
            </a:r>
            <a:r>
              <a:rPr lang="zh-TW" altLang="en-US" sz="2000" dirty="0">
                <a:solidFill>
                  <a:schemeClr val="accent6"/>
                </a:solidFill>
              </a:rPr>
              <a:t>組態 </a:t>
            </a:r>
            <a:r>
              <a:rPr lang="en-US" altLang="zh-TW" sz="2000" dirty="0">
                <a:solidFill>
                  <a:schemeClr val="accent6"/>
                </a:solidFill>
              </a:rPr>
              <a:t>-&gt; </a:t>
            </a:r>
            <a:r>
              <a:rPr lang="zh-TW" altLang="en-US" sz="2000" dirty="0">
                <a:solidFill>
                  <a:schemeClr val="accent6"/>
                </a:solidFill>
              </a:rPr>
              <a:t>切換到</a:t>
            </a:r>
            <a:r>
              <a:rPr lang="en-US" altLang="zh-TW" sz="2000" dirty="0">
                <a:solidFill>
                  <a:schemeClr val="accent6"/>
                </a:solidFill>
              </a:rPr>
              <a:t>Disabled</a:t>
            </a:r>
            <a:br>
              <a:rPr lang="en-US" altLang="zh-TW" sz="2000" dirty="0">
                <a:solidFill>
                  <a:schemeClr val="accent6"/>
                </a:solidFill>
              </a:rPr>
            </a:br>
            <a:r>
              <a:rPr lang="en-US" altLang="zh-TW" sz="1600" dirty="0">
                <a:hlinkClick r:id="rId2"/>
              </a:rPr>
              <a:t>http://localhost:8080</a:t>
            </a:r>
            <a:r>
              <a:rPr lang="en-US" altLang="zh-TW" sz="1600" dirty="0"/>
              <a:t>	</a:t>
            </a:r>
            <a:r>
              <a:rPr lang="zh-TW" altLang="en-US" sz="1600" dirty="0"/>
              <a:t>帳號</a:t>
            </a:r>
            <a:r>
              <a:rPr lang="en-US" altLang="zh-TW" sz="1600" dirty="0"/>
              <a:t>: admin    </a:t>
            </a:r>
            <a:r>
              <a:rPr lang="zh-TW" altLang="en-US" sz="1600" dirty="0"/>
              <a:t>密碼</a:t>
            </a:r>
            <a:r>
              <a:rPr lang="en-US" altLang="zh-TW" sz="1600" dirty="0"/>
              <a:t>:1qaz@WSX</a:t>
            </a:r>
          </a:p>
        </p:txBody>
      </p:sp>
      <p:pic>
        <p:nvPicPr>
          <p:cNvPr id="4" name="圖片 3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F4EC483F-3C21-C86D-42F0-CC255C005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13" y="1538740"/>
            <a:ext cx="7992019" cy="398703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450E29D4-AD30-A52E-E8CC-86DB15944C8B}"/>
              </a:ext>
            </a:extLst>
          </p:cNvPr>
          <p:cNvSpPr/>
          <p:nvPr/>
        </p:nvSpPr>
        <p:spPr>
          <a:xfrm>
            <a:off x="6907122" y="2653936"/>
            <a:ext cx="1557610" cy="3831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3429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02064-5C76-D93D-9044-B50E7C815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9BB86551-EA53-282B-81B9-97D1FA28927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8344" y="844731"/>
            <a:ext cx="10454890" cy="5375049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000" dirty="0"/>
              <a:t>(6)</a:t>
            </a:r>
            <a:r>
              <a:rPr lang="zh-TW" altLang="en-US" sz="2000" dirty="0"/>
              <a:t> 更改中介</a:t>
            </a:r>
            <a:r>
              <a:rPr lang="en-US" altLang="zh-TW" sz="2000" dirty="0"/>
              <a:t>Jenkins Jobs – </a:t>
            </a:r>
            <a:r>
              <a:rPr lang="zh-TW" altLang="en-US" sz="2000" dirty="0">
                <a:solidFill>
                  <a:schemeClr val="accent6"/>
                </a:solidFill>
              </a:rPr>
              <a:t>點擊</a:t>
            </a:r>
            <a:r>
              <a:rPr lang="en-US" altLang="zh-TW" sz="2000" dirty="0">
                <a:solidFill>
                  <a:schemeClr val="accent6"/>
                </a:solidFill>
              </a:rPr>
              <a:t>Job</a:t>
            </a:r>
            <a:r>
              <a:rPr lang="zh-TW" altLang="en-US" sz="2000" dirty="0">
                <a:solidFill>
                  <a:schemeClr val="accent6"/>
                </a:solidFill>
              </a:rPr>
              <a:t>名稱 </a:t>
            </a:r>
            <a:r>
              <a:rPr lang="en-US" altLang="zh-TW" sz="2000" dirty="0">
                <a:solidFill>
                  <a:schemeClr val="accent6"/>
                </a:solidFill>
              </a:rPr>
              <a:t>-&gt; </a:t>
            </a:r>
            <a:r>
              <a:rPr lang="zh-TW" altLang="en-US" sz="2000" dirty="0">
                <a:solidFill>
                  <a:schemeClr val="accent6"/>
                </a:solidFill>
              </a:rPr>
              <a:t>組態</a:t>
            </a:r>
            <a:r>
              <a:rPr lang="en-US" altLang="zh-TW" sz="2000" dirty="0"/>
              <a:t>(</a:t>
            </a:r>
            <a:r>
              <a:rPr lang="zh-TW" altLang="en-US" sz="2000" dirty="0"/>
              <a:t>更改後直接儲存即生效</a:t>
            </a:r>
            <a:r>
              <a:rPr lang="en-US" altLang="zh-TW" sz="2000" dirty="0"/>
              <a:t>)</a:t>
            </a:r>
          </a:p>
          <a:p>
            <a:pPr marL="0" indent="0">
              <a:buNone/>
            </a:pPr>
            <a:r>
              <a:rPr lang="zh-TW" altLang="en-US" sz="2000" dirty="0">
                <a:solidFill>
                  <a:schemeClr val="accent1">
                    <a:lumMod val="75000"/>
                  </a:schemeClr>
                </a:solidFill>
              </a:rPr>
              <a:t>同步中介資料庫到內網</a:t>
            </a:r>
            <a:r>
              <a:rPr lang="zh-TW" altLang="en-US" sz="2000" dirty="0"/>
              <a:t>、</a:t>
            </a:r>
            <a:r>
              <a:rPr lang="zh-TW" altLang="en-US" sz="2000" dirty="0">
                <a:solidFill>
                  <a:schemeClr val="accent1">
                    <a:lumMod val="75000"/>
                  </a:schemeClr>
                </a:solidFill>
              </a:rPr>
              <a:t>同步內網資料庫到中介</a:t>
            </a:r>
            <a:r>
              <a:rPr lang="zh-TW" altLang="en-US" sz="2000" dirty="0"/>
              <a:t> </a:t>
            </a:r>
            <a:r>
              <a:rPr lang="en-US" altLang="zh-TW" sz="2000" dirty="0"/>
              <a:t>– </a:t>
            </a:r>
            <a:r>
              <a:rPr lang="zh-TW" altLang="en-US" sz="2000" dirty="0"/>
              <a:t>將非</a:t>
            </a:r>
            <a:r>
              <a:rPr lang="en-US" altLang="zh-TW" sz="2000" dirty="0"/>
              <a:t>localhost IP</a:t>
            </a:r>
            <a:r>
              <a:rPr lang="zh-TW" altLang="en-US" sz="2000" dirty="0"/>
              <a:t>改回舊</a:t>
            </a:r>
            <a:r>
              <a:rPr lang="en-US" altLang="zh-TW" sz="2000" dirty="0"/>
              <a:t>IDM</a:t>
            </a:r>
            <a:r>
              <a:rPr lang="zh-TW" altLang="en-US" sz="2000" dirty="0"/>
              <a:t>內網</a:t>
            </a:r>
            <a:r>
              <a:rPr lang="en-US" altLang="zh-TW" sz="2000" dirty="0"/>
              <a:t>IP</a:t>
            </a:r>
          </a:p>
          <a:p>
            <a:pPr marL="0" indent="0">
              <a:buNone/>
            </a:pPr>
            <a:r>
              <a:rPr lang="zh-TW" altLang="en-US" sz="2000" dirty="0">
                <a:solidFill>
                  <a:schemeClr val="accent1">
                    <a:lumMod val="75000"/>
                  </a:schemeClr>
                </a:solidFill>
              </a:rPr>
              <a:t>同步中介資料庫到外網</a:t>
            </a:r>
            <a:r>
              <a:rPr lang="zh-TW" altLang="en-US" sz="2000" dirty="0"/>
              <a:t>、</a:t>
            </a:r>
            <a:r>
              <a:rPr lang="zh-TW" altLang="en-US" sz="2000" dirty="0">
                <a:solidFill>
                  <a:schemeClr val="accent1">
                    <a:lumMod val="75000"/>
                  </a:schemeClr>
                </a:solidFill>
              </a:rPr>
              <a:t>同步外網資料庫到中介</a:t>
            </a:r>
            <a:r>
              <a:rPr lang="zh-TW" altLang="en-US" sz="2000" dirty="0"/>
              <a:t> </a:t>
            </a:r>
            <a:r>
              <a:rPr lang="en-US" altLang="zh-TW" sz="2000" dirty="0"/>
              <a:t>– </a:t>
            </a:r>
            <a:r>
              <a:rPr lang="zh-TW" altLang="en-US" sz="2000" dirty="0"/>
              <a:t>將非</a:t>
            </a:r>
            <a:r>
              <a:rPr lang="en-US" altLang="zh-TW" sz="2000" dirty="0"/>
              <a:t>localhost IP</a:t>
            </a:r>
            <a:r>
              <a:rPr lang="zh-TW" altLang="en-US" sz="2000" dirty="0"/>
              <a:t>改回舊</a:t>
            </a:r>
            <a:r>
              <a:rPr lang="en-US" altLang="zh-TW" sz="2000" dirty="0"/>
              <a:t>IDM</a:t>
            </a:r>
            <a:r>
              <a:rPr lang="zh-TW" altLang="en-US" sz="2000" dirty="0"/>
              <a:t>外網</a:t>
            </a:r>
            <a:r>
              <a:rPr lang="en-US" altLang="zh-TW" sz="2000" dirty="0"/>
              <a:t>IP</a:t>
            </a:r>
          </a:p>
        </p:txBody>
      </p:sp>
      <p:pic>
        <p:nvPicPr>
          <p:cNvPr id="4" name="圖片 3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9A9187B0-32EB-6DBD-CA73-7F89BBB6E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56" y="2342606"/>
            <a:ext cx="7978425" cy="419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094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30A1F-6C1B-286C-F1D7-5AB680581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5CA3787-23DF-1B47-FEF7-C30DA3FF197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79054" y="961117"/>
            <a:ext cx="10250489" cy="528478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六</a:t>
            </a:r>
            <a:r>
              <a:rPr lang="en-US" altLang="zh-TW" dirty="0"/>
              <a:t>) </a:t>
            </a:r>
            <a:r>
              <a:rPr lang="zh-TW" altLang="en-US" dirty="0"/>
              <a:t>系統移轉後確認</a:t>
            </a:r>
            <a:endParaRPr lang="en-US" altLang="zh-TW" dirty="0"/>
          </a:p>
          <a:p>
            <a:pPr marL="457200" indent="-457200">
              <a:buAutoNum type="arabicParenBoth"/>
            </a:pPr>
            <a:r>
              <a:rPr lang="zh-TW" altLang="en-US" sz="2000" dirty="0"/>
              <a:t>重新執行內網</a:t>
            </a:r>
            <a:r>
              <a:rPr lang="en-US" altLang="zh-TW" sz="2000" dirty="0"/>
              <a:t>”</a:t>
            </a:r>
            <a:r>
              <a:rPr lang="zh-TW" altLang="en-US" sz="2000" dirty="0"/>
              <a:t>系統檢測</a:t>
            </a:r>
            <a:r>
              <a:rPr lang="en-US" altLang="zh-TW" sz="2000" dirty="0"/>
              <a:t>” Jenkins job </a:t>
            </a:r>
            <a:r>
              <a:rPr lang="zh-TW" altLang="en-US" sz="2000" dirty="0"/>
              <a:t>，確認 </a:t>
            </a:r>
            <a:r>
              <a:rPr lang="en-US" altLang="zh-TW" sz="2000" dirty="0"/>
              <a:t>report </a:t>
            </a:r>
            <a:r>
              <a:rPr lang="zh-TW" altLang="en-US" sz="2000" dirty="0"/>
              <a:t>正常</a:t>
            </a:r>
            <a:endParaRPr lang="en-US" altLang="zh-TW" sz="2000" dirty="0"/>
          </a:p>
          <a:p>
            <a:pPr marL="457200" indent="-457200">
              <a:buAutoNum type="arabicParenBoth"/>
            </a:pPr>
            <a:r>
              <a:rPr lang="zh-TW" altLang="en-US" sz="2000" dirty="0"/>
              <a:t>請使用者透過</a:t>
            </a:r>
            <a:r>
              <a:rPr lang="en-US" altLang="zh-TW" sz="2000" dirty="0"/>
              <a:t>YBD</a:t>
            </a:r>
            <a:r>
              <a:rPr lang="zh-TW" altLang="en-US" sz="2000" dirty="0"/>
              <a:t>進行密碼變更，看外網是否有正常同步</a:t>
            </a:r>
            <a:endParaRPr lang="en-US" altLang="zh-TW" sz="20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110108D-8154-4DDE-D8F8-1C0B76F4D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8025"/>
            <a:ext cx="1219200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062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769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1614B93-8920-4987-B3A0-CB6306DA3DEF}">
  <we:reference id="wa200010725" version="1.0.0.1" store="zh-TW" storeType="OMEX"/>
  <we:alternateReferences>
    <we:reference id="WA200010725" version="1.0.0.1" store="WA200010725" storeType="OMEX"/>
  </we:alternateReferences>
  <we:properties>
    <we:property name="claude.fileId" value="&quot;c276dd54-b766-442a-8596-b43a6fca2d5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10893</TotalTime>
  <Words>959</Words>
  <Application>Microsoft Office PowerPoint</Application>
  <PresentationFormat>寬螢幕</PresentationFormat>
  <Paragraphs>51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Hedy Liang</dc:creator>
  <cp:lastModifiedBy>何宗憲</cp:lastModifiedBy>
  <cp:revision>190</cp:revision>
  <dcterms:created xsi:type="dcterms:W3CDTF">2022-04-22T04:41:57Z</dcterms:created>
  <dcterms:modified xsi:type="dcterms:W3CDTF">2026-06-25T07:51:02Z</dcterms:modified>
</cp:coreProperties>
</file>